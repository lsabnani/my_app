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OVERVIEW | Strategic Commodity Assessment &amp; Vendor 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Comprehensive procurement assessment of Power Quality Monitoring (PQM) solutions to eliminate un-planned outages, protect yield, and optimize vendor selection across high-density facilities.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Mission-Critical Uptime: PQM safeguards $2.4M/hr downtime risks in Semiconductor Fabs &amp; Data Centers.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Macro Demand Surge: Driven by AI rack power densities (100kW+) and microgrid expansion.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Vendor Scope: Strategic evaluation of Eaton, Schneider Electric, SEL, Janitza, and Powerside.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99.9999%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Target Facility Uptime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$2.4M Risk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Downtime Risk / Hour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5 Top Tier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Key Suppliers Analyzed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1   |   PQM_Executive_Deck.pptx   |   Author: Lalit Sabnani   |   Date: 2026-10-10   |   Verified Sources: EPRI Power Quality Basics | IEEE 1159 Monitoring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Commodity Definition &amp; Industry Relevance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COMMODITY SPECS | Physics of Power Anomalies &amp; Impact on Critical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PQM hardware and software act as the primary diagnostic sensor array, capturing microsecond electrical disturbances before they trigger tool trips or scrap multi-million dollar wafer runs.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Anomaly Spectrum: Voltage sags, THD harmonics (to 63rd order), and sub-millisecond transients.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SEMI F47 Standard: Mandates tool immunity to 50% voltage sags up to 1,000ms.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Class A Precision: IEC 61000-4-30 Ed 3 guarantees utility-defensible legal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IEC 61000-4-30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Class A Metering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50% Sag Immunity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SEMI F47 Threshold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63rd Harmonic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Harmonic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2   |   PQM_Executive_Deck.pptx   |   Author: Lalit Sabnani   |   Date: 2026-10-10   |   Verified Sources: IEC 61000-4-30 Standard | SEMI F47 Voltage Sag Standard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Market Dynamics &amp; Macro Drivers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MARKET TRENDS | TAM Expansion, AI Workload Power Surge &amp; Grid Decarbonization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Surging AI compute power requirements and industrial decarbonization are expanding the PQM addressable market, shifting monitoring from periodic audits to mandatory 24/7 real-time telemetry.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TAM Acceleration: Global PQM equipment expanding at 6.8% CAGR toward $4.2B by 2030.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AI Rack Power Density: Hyperscale AI clusters (100kW+ per rack) multiply transient voltage sensitivity.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Renewable Integration: Microgrids add bi-directional harmonics requiring 24/7 continuous logging.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$4.2 Billion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Global Market TAM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6.8% (2024-30)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Market Growth CAGR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+160% by 2030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AI Grid Power Surge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3   |   PQM_Executive_Deck.pptx   |   Author: Lalit Sabnani   |   Date: 2026-10-10   |   Verified Sources: Grand View Research Market Analysis | IEA Electricity 2024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Competitive Landscape &amp; Market Share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COMPETITIVE INTELLIGENCE | Market Distribution Across Key Industry Players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Market share is split between broad enterprise power management software providers (Schneider/Eaton) and specialized hardware performance pioneers (SEL, Janitza, Powerside).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Enterprise Conglomerates: Schneider Electric (32%) &amp; Eaton (23%) command 55% global market.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Utility Protection Champion: SEL holds 18% share with unmatched substation reliability.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Specialized Edge Innovators: Janitza &amp; Powerside (15%) lead compact DIN-rail &amp; micro-PQ meters.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32% Market Share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Schneider Electric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23% Market Share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Eaton Corporation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45% Combined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SEL / Janitza / Powerside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4   |   PQM_Executive_Deck.pptx   |   Author: Lalit Sabnani   |   Date: 2026-10-10   |   Verified Sources: Schneider EcoStruxure Power | Eaton Brightlayer Power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Supplier Differentiation &amp; USPs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VENDOR MATRIX | Deep Dive Comparison: Strengths, Weaknesses &amp; USPs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Optimal supplier selection pairs Tier 1 enterprise software suites (Schneider/Eaton) for main switchgear with open, compact meters (Janitza/Powerside) for tool-level sub-metering.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Schneider (ION9000): Ultra-fast waveform capture (1024 samples/cycle) and native PME software.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Eaton (Brightlayer): Seamless UPS/PDU infrastructure integration with deep catalog options.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SEL (SEL-735): 10-year warranty, substation ruggedization, &gt;500k hour MTBF reliability benchmark.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Janitza (UMG Series): Open REST/Modbus APIs, compact DIN-rail form, embedded web server.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Powerside (PQube3): Plug-and-play micro-PQ meter, 14 channels, automatic PDF report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&gt; 500,000 hrs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SEL Hardware MTBF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1024 samp/cyc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ION9000 Waveform Resolution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14 Channels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PQube3 Monitoring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5   |   PQM_Executive_Deck.pptx   |   Author: Lalit Sabnani   |   Date: 2026-10-10   |   Verified Sources: SEL Power System Products | Powerside PQube3 Technical Specs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Product &amp; Hardware Architecture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HARDWARE ARCHITECTURE | Sensor Classifications, Sampling Frequency &amp; Edge Data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Hardware architectures combine DSP-driven high-frequency sampling with dual-Ethernet network segregation, ensuring secure OT telemetry and microsecond event correlation across global sites.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Clock Synchronization: GPS/PTP (Precision Time Protocol) alignment to ±1 microsecond.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Transient Impulse Capture: 20 MHz sampling speed isolates microsecond voltage spikes.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Non-Intrusive Transducers: Flexible Rogowski coils enable retrofits without power outages.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±1 µs (PTP)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Clock Sync Accuracy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20 MHz Capture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Transient Resolution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CT / PT / Rogowski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Transducer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6   |   PQM_Executive_Deck.pptx   |   Author: Lalit Sabnani   |   Date: 2026-10-10   |   Verified Sources: Janitza UMG 512 PRO Class A Meter | Schneider ION9000 Hardware Datasheet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Software Platforms &amp; Power Analytics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SOFTWARE ARCHITECTURE | EPMS Architectures, Cloud Dashboards &amp; AI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Software suites aggregate high-speed meter data into single-line electrical diagrams, automated disturbance direction detection (upstream vs downstream), and EN 50160 compliance reports.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Real-Time Telemetry: Sub-100ms analytics processing across multi-node EPMS networks.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Disturbance Analysis: Automated CBEMA / ITIC tolerance curve plotting flags instant compliance.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AI Anomaly Detection: 94.2% accuracy in predicting transformer degradation &amp; harmonic resonance.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&lt; 100 ms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Analytics Response Time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Modbus / IEC 61850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Supported Protocols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94.2% Predictive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AI Anomaly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7   |   PQM_Executive_Deck.pptx   |   Author: Lalit Sabnani   |   Date: 2026-10-10   |   Verified Sources: Schneider Power Monitoring Expert (PME) | Eaton Foreseer EPMS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LIFECYCLE &amp; SERVICES | Commissioning, NIST Traceable Calibration &amp; Cybersecurity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Long-term program governance requires vendor SLAs covering annual NIST calibration, OT security hot-patching, relay coordination studies, and guaranteed replacement inventory.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NIST Calibration: Annual recertification preserves legal defensibility in utility tariff disputes.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Cybersecurity Mandate: IEC 62443-4-2 compliance mandatory for all OT network-connected meters.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SLA Guarantees: Vendor contracts enforce &lt;2 hour emergency response &amp; guaranteed replacement stock.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IEC 62443-4-2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Cyber Standard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Annual NIST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Recertification Interval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&lt; 2 Hours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Emergency Support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8   |   PQM_Executive_Deck.pptx   |   Author: Lalit Sabnani   |   Date: 2026-10-10   |   Verified Sources: ISA/IEC 62443 Cybersecurity Standard | NIST Cybersecurity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PROCUREMENT STRATEGY | Weighted Decision Matrix for Procurement &amp; Engineering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A multi-attribute scoring framework eliminates procurement bias by evaluating suppliers against independent lab certifications, open API protocols, 10-year TCO, and local field engineering support.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Scoring Weights: Technical Performance (30%), TCO (25%), Interoperability (20%), Security (15%), Resilience (10%).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Open Interoperability: Modbus TCP &amp; IEC 61850 compliance prevents single-vendor software lock-in.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Modular Footprint: Modular card architecture allows field upgrades without re-wiring CT/PT 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Technical Criteria Weight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TCO &amp; Cost Weight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Interoperability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9   |   PQM_Executive_Deck.pptx   |   Author: Lalit Sabnani   |   Date: 2026-10-10   |   Verified Sources: IEC 61850 Communication Standard | Modbus Organization Specifications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TCO &amp; RISK | CapEx vs OpEx Breakdown &amp; Supply Chain Resilience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Procurement strategy mitigates 16-24 week lead times by implementing a dual-sourcing model—balancing premium switchgear meters with agile open-standard edge hardware.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TCO Split: Hardware CapEx comprises 35%; installation, software licensing &amp; maintenance account for 65%.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Lead Time Buffering: Specialized meters carry 16-24 week lead times, requiring pre-staged inventory.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Dual-Sourcing Moat: Pairing Tier 1 switchgear meters with open edge meters eliminates single-source bottlenecks.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35% CapEx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Hardware CapEx Share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65% OpEx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Software &amp; Services Share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16-24 Weeks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Avg Hardware Lead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10   |   PQM_Executive_Deck.pptx   |   Author: Lalit Sabnani   |   Date: 2026-10-10   |   Verified Sources: Gartner Supply Chain Procurement | McKinsey Supply Chain Resilience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EXECUTION ROADMAP | Phased NPI Deployment, Clear-To-Build (CTB) &amp; FRACAS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Flawless rollout uses Clear-To-Build (CTB) staging to pre-verify CT/PT hardware prior to shutdown windows, while FRACAS governance systematically tracks and resolves meter compliance anomalies.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Phase 1 (W1-4): Audit electrical single-line diagrams &amp; map OT network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Phase 2 (W5-12): Pilot staging &amp; Clear-To-Build (CTB) verification across high-risk substations.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Phase 3 (W13-24): Full multi-site rollout, automated EPMS integration &amp; FRACAS governance setup.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Weeks 1 - 4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Phase 1 Facility Audit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Weeks 5 - 12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Phase 2 Pilot Staging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Weeks 13 - 24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Phase 3 Full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11   |   PQM_Executive_Deck.pptx   |   Author: Lalit Sabnani   |   Date: 2026-10-10   |   Verified Sources: ASQ FRACAS Quality Standard | PMI Standard for Program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RECOMMENDATIONS | Executive Action Plan &amp; Dual-Vendor Sourcing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The recommended dual-vendor architecture combines enterprise software power with hardware agility—delivering 14-18% TCO savings and ensuring 99.9999% facility uptime.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Dual-Vendor Sourcing: Deploy Schneider/SEL for primary switchgear; Janitza/Powerside for machine sub-metering.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RFP Mandate: Enforce Modbus TCP &amp; IEC 61850 open protocol compliance to prevent software lock-in.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Cost Savings: Target 14-18% TCO reduction through competitive dual-sourcing negotiation.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14 - 18% TCO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TCO Cost Savings Target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-30% Leads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Lead Time Reduction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Dual-Vendor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Supplier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12   |   PQM_Executive_Deck.pptx   |   Author: Lalit Sabnani   |   Date: 2026-10-10   |   Verified Sources: IEEE Power &amp; Energy Society | CIGRE Power Quality Working Group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8FAFC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EXECUTION PLAN | Key Deliverables, Timeline Milestones &amp; Resource Budgeting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A 16-week execution roadmap with a $450,000 implementation budget delivers full multi-site PQM deployment and secures $1.8M in annual downtime risk avoidance. (Revised per Executive Feedback: Add visuals)</a:t>
            </a:r>
          </a:p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Deliverable 1 (W1-4): RFP issuance &amp; dual-vendor contracting (Schneider/SEL + Janitza/Powerside). [Updated: Add visuals...]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Deliverable 2 (W5-10): Phase 1 pilot installation &amp; CTB staging across 2 primary substations.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Deliverable 3 (W11-16): Full EPMS integration, FRACAS quality setup &amp; executive sign-off.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FB923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16 Weeks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Execution Timeline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$450,000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Implementation Budget</a:t>
            </a: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$1.8M / Year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Annual Savings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PQM 13   |   PQM_Executive_Deck.pptx   |   Author: Lalit Sabnani   |   Date: 2026-10-10   |   Verified Sources: PMI Project Budgeting Standard | Gartner Facilities Execution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