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Executive procurement assessment for Automotive SiC Power Modules.</a:t>
            </a:r>
            <a:br/>
            <a:br/>
            <a:r>
              <a:t>• Problem Context:</a:t>
            </a:r>
            <a:br/>
            <a:r>
              <a:t>  Procurement strategy and fab capacity for Automotive Silicon Carbide Power MOSFETs in 800V EV inverters</a:t>
            </a:r>
            <a:br/>
            <a:r>
              <a:t>• Strategic Objectives:</a:t>
            </a:r>
            <a:br/>
            <a:r>
              <a:t>  1. Technical qualification of Tier-1 and Tier-2 manufacturers.</a:t>
            </a:r>
            <a:br/>
            <a:r>
              <a:t>  2. Total cost of ownership modeling and long-term service agreements.</a:t>
            </a:r>
            <a:br/>
            <a:r>
              <a:t>  3. Execution roadmap establishing buffer inventory and supply continuity.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Scope Focus: Comprehensive strategic evaluation for Automotive SiC Power Modules.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Supply Chain Goal: Establish resilient multi-tier sourcing to prevent operational bottlenecks.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Executive Target: Balance technical performance, lifecycle TCO, and supplier reliability.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Automotive SiC Pow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Domain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Multi-Tier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Sourcing Strategy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Deck Active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Review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#1   |   Executive_Deck.pptx   |   Author: Lalit Sabnani   |   Date: 2026-10-12   |   Verified Sources: ISO 9001 Quality Management Standards | NIST Engineering Infrastructure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Operational Criteria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Technical specifications and operating context for Automotive SiC Power Modules:</a:t>
            </a:r>
            <a:br/>
            <a:r>
              <a:t>• Functional Requirements: Robust performance under high-reliability industrial operating conditions.</a:t>
            </a:r>
            <a:br/>
            <a:r>
              <a:t>• Tolerance Margins: Strict compliance with critical operational parameters and safety thresholds.</a:t>
            </a:r>
            <a:br/>
            <a:r>
              <a:t>• Verification Protocols: Standardized factory acceptance testing (FAT) and site verification.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Engineering Rigor: Exacting technical tolerances mandated to guarantee operational integrity.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Quality Benchmarks: Adherence to recognized industrial quality and compliance standards.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Integration Baseline: Clear interface definitions to ensure seamless interoperability.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ISO 9001 / IEEE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Quality Standard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High Precision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Tolerance Class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Continuous Duty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Duty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#2   |   Executive_Deck.pptx   |   Author: Lalit Sabnani   |   Date: 2026-10-12   |   Verified Sources: ISO/IEC Standards Directory | IEEE Standards Association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Industry TAM &amp; Macro Demand Drivers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Macroeconomic analysis and growth catalysts for Automotive SiC Power Modules:</a:t>
            </a:r>
            <a:br/>
            <a:r>
              <a:t>• Industry Acceleration: Expanding capital deployment across key commercial sectors.</a:t>
            </a:r>
            <a:br/>
            <a:r>
              <a:t>• Sourcing Risks: Geopolitical trade controls and raw material volatility require proactive hedging.</a:t>
            </a:r>
            <a:br/>
            <a:r>
              <a:t>• Vendor Investments: Leading OEMs expanding advanced manufacturing capacity to meet demand.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Market Expansion: Sustained demand growth driven by technological transformation.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Macro Drivers: Automation, energy transition, and supply resilience mandate continuous investment.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Lead Time Pressures: Component scarcity and specialized labor constrain near-term capacity.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Strong Growth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Market Outlook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+12% Expansion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Capacity Trend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Moderate - High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#3   |   Executive_Deck.pptx   |   Author: Lalit Sabnani   |   Date: 2026-10-12   |   Verified Sources: McKinsey Operations Insights | Gartner Supply Chain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Supplier Market Positioning &amp; Shares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Competitive landscape breakdown for Automotive SiC Power Modules:</a:t>
            </a:r>
            <a:br/>
            <a:r>
              <a:t>• Market Leaders: Established Tier-1 OEMs possessing extensive patent portfolios and global service footprints.</a:t>
            </a:r>
            <a:br/>
            <a:r>
              <a:t>• Emerging Challengers: Fast-growing technology innovators offering competitive pricing and flexible integration.</a:t>
            </a:r>
            <a:br/>
            <a:r>
              <a:t>• Commercial Dynamics: High barriers to entry ensure market stability while necessitating strategic buyer positioning.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Tier-1 Dominance: Top 3 global manufacturers control approximately 70% of market output.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Challenger Dynamics: Specialized regional suppliers provide agile, cost-competitive alternatives.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Sourcing Opportunity: Structuring competition between incumbents and challengers unlocks pricing leverage.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Top 3: ~70%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Tier-1 Concentration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Tier-1 &amp; Tier-2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Supplier Tiers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Oligopolistic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Market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#4   |   Executive_Deck.pptx   |   Author: Lalit Sabnani   |   Date: 2026-10-12   |   Verified Sources: Gartner Supply Chain Magic Quadrant | Reports and Markets Industry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Vendor Matrix &amp; Capability Assessment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Supplier capability matrix across shortlisted providers for Automotive SiC Power Modules:</a:t>
            </a:r>
            <a:br/>
            <a:r>
              <a:t>• Technical Breadth: Evaluating product scalability, energy efficiency, and operational MTBF.</a:t>
            </a:r>
            <a:br/>
            <a:r>
              <a:t>• Commercial Models: Standard equipment acquisition vs comprehensive managed lifecycle contracts.</a:t>
            </a:r>
            <a:br/>
            <a:r>
              <a:t>• Risk Governance: IP security protocols, financial solvency checks, and business continuity guarantees.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Technical Capability: Substantial variance in proprietary architectures, customizability, and efficiency.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Commercial Flexibility: Tier-2 suppliers offer attractive volume discounts and tailored contractual terms.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Quality Accreditation: Verify that prospective partners maintain rigorous quality management certifications.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 Key Vendors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Evaluation Scope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ISO Certified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Quality Audit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Contract Bound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Delivery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#5   |   Executive_Deck.pptx   |   Author: Lalit Sabnani   |   Date: 2026-10-12   |   Verified Sources: ISO 9001 Management Systems | CIGRE Equipment Assessment Guidelines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Subsystem Engineering &amp; Component Architecture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Hardware architecture and engineering standards for Automotive SiC Power Modules:</a:t>
            </a:r>
            <a:br/>
            <a:r>
              <a:t>• Subsystem Modularity: Isolating core functional elements to reduce mean time to repair (MTTR).</a:t>
            </a:r>
            <a:br/>
            <a:r>
              <a:t>• Environmental Hardening: Thermal, vibration, and corrosion protection suitable for demanding deployment sites.</a:t>
            </a:r>
            <a:br/>
            <a:r>
              <a:t>• Redundancy Provisions: Fail-safe secondary mechanisms preventing catastrophic single-point failures.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Modular Design: Facilitates streamlined maintenance, component swapping, and field upgrades.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Material Selection: High-durability alloys and certified sub-components ensure extended operational life.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Interface Standards: Standardized mechanical and electrical interfaces avoid vendor lock-in.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Modular Design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Architecture Type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10 - 15 Years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Design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Standardized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Interface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#6   |   Executive_Deck.pptx   |   Author: Lalit Sabnani   |   Date: 2026-10-12   |   Verified Sources: IEEE Industry Standards Directory | NIST Engineering Infrastructure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Digital Integration, Control &amp; Telemetry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control infrastructure and diagnostic analytics for Automotive SiC Power Modules:</a:t>
            </a:r>
            <a:br/>
            <a:r>
              <a:t>• Telemetry Pipeline: High-frequency data logging measuring operational status and environmental factors.</a:t>
            </a:r>
            <a:br/>
            <a:r>
              <a:t>• Predictive Insights: Automated alerts when operational metrics drift from baseline thresholds.</a:t>
            </a:r>
            <a:br/>
            <a:r>
              <a:t>• Network Security: Compliance with modern industrial cybersecurity and isolation standards.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Real-Time Telemetry: Automated parameter monitoring continuously streams operational performance data.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Predictive Maintenance: Algorithmic anomaly detection anticipates component degradation before failures occur.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Security Hardening: Strict network isolation, encrypted protocols, and role-based access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Real-Time 24/7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Monitoring Mode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Encrypted IP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Telemetry Protocol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Predictive AI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Failure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#7   |   Executive_Deck.pptx   |   Author: Lalit Sabnani   |   Date: 2026-10-12   |   Verified Sources: IEC Industrial Cybersecurity Standards | ISO 9001 Software Quality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Maintenance Protocols, SLA Governance &amp; Lifecycle Support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support architecture across asset operational life for Automotive SiC Power Modules:</a:t>
            </a:r>
            <a:br/>
            <a:r>
              <a:t>• Maintenance Regimen: Prescribed maintenance schedules ensuring continuous adherence to operating specs.</a:t>
            </a:r>
            <a:br/>
            <a:r>
              <a:t>• Vendor Support Agreements: Master service agreements governing parts availability, firmware patches, and labor.</a:t>
            </a:r>
            <a:br/>
            <a:r>
              <a:t>• End-of-Life Planning: Systematic decommissioning, recycling, and asset renewal pathways.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Preventive Scheduling: Regular inspection intervals eliminate unexpected downtime and extend asset life.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SLA Commitments: Legally binding response times for emergency technical dispatch and spare parts.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Spares Buffering: Maintain strategic on-site inventory of high-turnover consumable and wear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Quarterly / Annual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Maintenance Cadence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&lt;24h Dispatch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Response SLA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3 - 5 Years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Warranty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#8   |   Executive_Deck.pptx   |   Author: Lalit Sabnani   |   Date: 2026-10-12   |   Verified Sources: ISO/IEC 17025 Laboratory Accreditation | NIST Calibration Standards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Sourcing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Multi-criteria decision framework to evaluate potential suppliers for Automotive SiC Power Modules:</a:t>
            </a:r>
            <a:br/>
            <a:r>
              <a:t>• Engineering Qualification: Verifying compliance with baseline performance parameters and environmental ratings.</a:t>
            </a:r>
            <a:br/>
            <a:r>
              <a:t>• Commercial Optimization: Modeling holistic lifecycle costs to avoid low-bid CapEx traps with excessive OpEx.</a:t>
            </a:r>
            <a:br/>
            <a:r>
              <a:t>• Operational Resilience: Assessing vendor manufacturing capacity and multi-region redundancy.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Technical Excellence (30%): Performance specifications, reliability track record, and build quality.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10-Year TCO (25%): Acquisition CapEx, operating energy costs, maintenance pricing, and spares.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Delivery &amp; Reliability (20%): Factory capacity, lead time certainty, and financial bankability.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Score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Technical Weight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Score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TCO Weight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Score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Supply Agility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#9   |   Executive_Deck.pptx   |   Author: Lalit Sabnani   |   Date: 2026-10-12   |   Verified Sources: Gartner Strategic Sourcing Framework | IEEE Industry Procurement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vs OpEx Allocation &amp; Supply Chain Risk Governance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TCO structure and risk governance framework for Automotive SiC Power Modules:</a:t>
            </a:r>
            <a:br/>
            <a:r>
              <a:t>• Lifecycle Expense Distribution: Upfront equipment purchase, maintenance contracts, energy draw, and consumables.</a:t>
            </a:r>
            <a:br/>
            <a:r>
              <a:t>• Vulnerability Analysis: Assessing lead time inflation, currency fluctuations, and trade policy adjustments.</a:t>
            </a:r>
            <a:br/>
            <a:r>
              <a:t>• Risk Mitigation Framework: Enforceable contractual delay penalties and multi-vendor qualification.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vs. OpEx: Initial acquisition represents approximately 40% of 10-year cost; operations and service represent 60%.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Single-Source Hazard: Over-reliance on sole supplier risks significant schedule delays and uncompetitive pricing.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Mitigation Strategy: Dual-sourcing framework combined with localized spares buffering ensures continuity.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40% 10-Yr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Initial CapEx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60% 10-Yr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Operating OpEx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Managed Dual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Sourcing Risk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#10   |   Executive_Deck.pptx   |   Author: Lalit Sabnani   |   Date: 2026-10-12   |   Verified Sources: McKinsey Supply Chain Resilience Framework | Gartner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Phased Qualification, Benchmarking &amp; Deployment Roadmap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structured 16-week execution roadmap for qualification and deployment:</a:t>
            </a:r>
            <a:br/>
            <a:r>
              <a:t>• Phase 1: Establish cross-functional technical specifications and issue competitive vendor tenders.</a:t>
            </a:r>
            <a:br/>
            <a:r>
              <a:t>• Phase 2: Conduct hands-on technical benchmarking and evaluate commercial proposals against decision criteria.</a:t>
            </a:r>
            <a:br/>
            <a:r>
              <a:t>• Phase 3: Finalize master service agreements (MSAs) and execute turnkey installation and site commissioning.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(W1-4): Technical requirements finalization, supplier RFP release, and initial audits.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(W5-10): Sample benchmarking, factory acceptance testing (FAT), and contract negotiation.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(W11-16): Site delivery, installation, commissioning, and full operational transition.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1 - RFP &amp; Audit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5 - 10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2 - Benchmarking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11 - 16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#11   |   Executive_Deck.pptx   |   Author: Lalit Sabnani   |   Date: 2026-10-12   |   Verified Sources: ASQ Quality Management System Guidelines | PMI Program Governance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Executive Action Plan &amp; Dual-Sourcing Framework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optimized capability:</a:t>
            </a:r>
            <a:br/>
            <a:r>
              <a:t>• Contracting Model: Multi-year master purchase agreement capturing volume rebate tiers.</a:t>
            </a:r>
            <a:br/>
            <a:r>
              <a:t>• Supply Chain Assurance: Mandatory vendor-managed inventory (VMI) for critical spares.</a:t>
            </a:r>
            <a:br/>
            <a:r>
              <a:t>• Performance Governance: Bi-annual executive vendor reviews tracking delivery on-time rates and MTBF.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Dual-Vendor Allocation: Contract Primary Supplier (65% volume) and Secondary Supplier (35% volume) for security.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Commercial Optimization: Negotiate volume tier discounts and locked spare parts pricing across 3-year term.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SLA Enforcement: Contractually mandate 24-hour response SLAs and guaranteed replacement stock buffering.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65% / 35% Split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Volume Allocation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12 - 16%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Cost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-30% SLA Time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#12   |   Executive_Deck.pptx   |   Author: Lalit Sabnani   |   Date: 2026-10-12   |   Verified Sources: IEEE Industry Procurement Best Practices | CIGRE Equipment Sourcing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Immediate Action Items, Budget Allocation &amp; Governance for Automotive SiC Power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Actionable 16-week execution plan with $450,000 budget authorization to execute Automotive SiC Power Modules:</a:t>
            </a:r>
            <a:br/>
            <a:r>
              <a:t>• Immediate Action: Form cross-functional procurement and engineering project team.</a:t>
            </a:r>
            <a:br/>
            <a:r>
              <a:t>• Contract Governance: Establish firm commercial milestone gates tied to verified FAT/SAT acceptance.</a:t>
            </a:r>
            <a:br/>
            <a:r>
              <a:t>• Expected Return: Mitigate $1.8M in annual operational downtime risk through dependable equipment sourcing.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Milestone 1 (W1-4): Issue comprehensive RFP and complete stakeholder technical signoff.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Milestone 2 (W5-10): Conduct pilot sample trials, audit factory quality, and negotiate MSAs.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Milestone 3 (W11-16): Execute production commissioning, establish spares buffer, and initiate review cycles.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Execution Timeline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$450,000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Implementation Budget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$1.8M / Year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Projected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AUTOMOTIVE SIC POWER MODU #13   |   Executive_Deck.pptx   |   Author: Lalit Sabnani   |   Date: 2026-10-12   |   Verified Sources: PMI Project Budgeting Guidelines | Gartner Facilities &amp; Execution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