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OVERVIEW | Strategic Study: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This strategic sourcing assessment addresses the 160kV / 3.0mA (480W continuous output) integrated high-voltage X-ray generator subsystem utilized across advanced industrial inspection and micro-CT metrology platforms. Production lead times from Tier-1 suppliers—primarily Comet and Spellman—remain extended at 20 to 28 weeks due to serialized high-vacuum tube fabrication, Cockcroft-Walton multiplier encapsulation, and dielectric oil filling.</a:t>
            </a:r>
            <a:br/>
            <a:br/>
            <a:r>
              <a:t>Schedule bottlenecks reside across three complex manufacturing gates: (1) Metal-ceramic insert tube brazing, beryllium window bonding, and vacuum getter activation (6–8 weeks); (2) Void-free dielectric oil degas filling, hermetic chassis sealing, and pressure bellows verification (4–6 weeks); and (3) Automated high-voltage seasoning, filament calibration, and 100-hour stability burn-in (5–8 weeks).</a:t>
            </a:r>
            <a:br/>
            <a:br/>
            <a:r>
              <a:t>To compress overall delivery timelines from 28 weeks down to 8–10 weeks, engineering and procurement must establish Vendor-Managed Inventory (VMI) buffer programs for bare tube inserts and multiplier cores while completing dual-source interchangeability qualification across North American and European manufacturing facilities.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Baseline 20–28 week lead times stem from serialized vacuum tube processing and potting.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High-voltage seasoning and oil degas encapsulation represent prime production schedule bottlenecks.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VMI buffer agreements for long-lead inserts compress delivery cycles down to 8–10 weeks.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Dual-sourcing qualification between Comet and Spellman mitigates single-vendor disruption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20–28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Baseline Subsystem Lead Time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8–10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VMI Compressed Delivery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&gt;20,000 Hours MTBF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Operating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   |   Executive_Deck.pptx   |   Author: Lalit Sabnani   |   Date: 2026-10-12   |   Verified Sources: Comet X-Ray Sources Technical Portfolio | Spellman High Voltage Monoblock Systems | FDA 21 CFR 1020.40 Cabinet X-Ray Radiation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COMMODITY SPECS | Technical Specifications &amp; Operating Profiles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Operational specifications and critical tolerances for 160kV 3mA X-ray generation:</a:t>
            </a:r>
            <a:br/>
            <a:r>
              <a:t>• Generator Architecture: High-frequency resonant inverter with Cockcroft-Walton voltage multiplier stack.</a:t>
            </a:r>
            <a:br/>
            <a:r>
              <a:t>• Focal Spot Optics: Dual focal spot design (small spot for high-resolution micro-CT, broad spot for high-flux radioscopy).</a:t>
            </a:r>
            <a:br/>
            <a:r>
              <a:t>• Duty Cycle &amp; Cooling: 100% continuous duty rating with oil-to-air or oil-to-water heat exchangers.</a:t>
            </a:r>
            <a:br/>
            <a:r>
              <a:t>• Radiation Enclosure: Lead shielding and certified interlock safety systems meeting international radiation safety standards.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Power Multiplier: 160kV potential produces penetrating photon energy capable of resolving dense alloys.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Beam Stability: Closed-loop filament emission control ensures repeatability over 10,000+ operational hours.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Thermal Dissipation: Oil-circulated closed-loop cooling prevents focal spot degradation under continuous 480W duty.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&lt;0.05% Ripple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Voltage Stability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0.4mm / 1.0mm Dual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Focal Spot Size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 Target / Be Exit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/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#2   |   Executive_Deck.pptx   |   Author: Lalit Sabnani   |   Date: 2026-10-12   |   Verified Sources: NIST Radiation Physics Standards | ISO/IEC 17025 Testing &amp; 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MARKET TRENDS | Global TAM &amp; Technology Drivers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Macro dynamics accelerating demand for 160kV X-ray inspection equipment:</a:t>
            </a:r>
            <a:br/>
            <a:r>
              <a:t>• EV Battery Gigafactories: Mandate high-throughput radioscopy to detect internal electrode overhangs and tab misalignments.</a:t>
            </a:r>
            <a:br/>
            <a:r>
              <a:t>• Advanced Electronics Packaging: 2.5D/3D semiconductor packaging demands sub-micron microfocus inspection at 160kV.</a:t>
            </a:r>
            <a:br/>
            <a:r>
              <a:t>• Sourcing Volatility: High raw material costs (Beryllium, Tungsten) and specialized assembly technician shortages constrain OEM output.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Market Growth: Industrial X-ray sources expanding from $3.2B to $4.8B driven by EV battery and semiconductor inspection.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Quality Mandates: 100% inline CT inspection requirements for automotive pouch cells drive high-reliability generator demand.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Supply Chain Bottlenecks: Specialized high-voltage components (vacuum tubes, beryllium windows) face extended lead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$3.2B -&gt; $4.8B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X-Ray TAM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+7.4% CAGR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Industrial CT CAGR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20 - 28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#3   |   Executive_Deck.pptx   |   Author: Lalit Sabnani   |   Date: 2026-10-12   |   Verified Sources: MarketsandMarkets NDT Inspection Study | McKinsey Industrial Technology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COMPETITIVE INTELLIGENCE | Market Share &amp; Supplier Positioning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Supplier landscape analysis for 160kV X-ray generation equipment:</a:t>
            </a:r>
            <a:br/>
            <a:r>
              <a:t>• Comet Group (Comet X-Ray): Leading supplier of metal-ceramic tubes and high-frequency iX-series generators.</a:t>
            </a:r>
            <a:br/>
            <a:r>
              <a:t>• Varex Imaging: Broad portfolio of industrial and analytical X-ray tubes, high-voltage cables, and subsystems.</a:t>
            </a:r>
            <a:br/>
            <a:r>
              <a:t>• Spellman High Voltage: Specializes in compact high-voltage power supplies and integrated monoblock sources.</a:t>
            </a:r>
            <a:br/>
            <a:r>
              <a:t>• Gulmay &amp; Excillum: High-reliability industrial generators (Gulmay) and high-brightness liquid-metal-jet sources (Excillum).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Comet Group leads global industrial X-ray tubes and generators with ~36% market share.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Varex Imaging commands ~28% share, excelling in OEM radiographic tubes and digital detectors.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Spellman High Voltage holds ~20% in precision high-voltage generators and Monoblock®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36% Lead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Comet Market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28%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Varex Imaging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Monoblock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Spellman High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#4   |   Executive_Deck.pptx   |   Author: Lalit Sabnani   |   Date: 2026-10-12   |   Verified Sources: Comet Industrial X-Ray Source Specs | Spellman High Voltage Generator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VENDOR MATRIX | OEM Portfolio Comparison &amp; Capabilities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Comparative evaluation of top equipment suppliers for 160kV sources:</a:t>
            </a:r>
            <a:br/>
            <a:r>
              <a:t>• Comet X-Ray: Benchmark for metal-ceramic robustness and high-voltage generator stability; premium pricing.</a:t>
            </a:r>
            <a:br/>
            <a:r>
              <a:t>• Spellman High Voltage: Compact footprint, highly engineered monoblock designs, strong presence in analytical imaging.</a:t>
            </a:r>
            <a:br/>
            <a:r>
              <a:t>• Varex Imaging: Vertically integrated tube and detector packages; advantageous bundling commercial terms.</a:t>
            </a:r>
            <a:br/>
            <a:r>
              <a:t>• Gulmay: Modular 160kV-450kV CP generators with field-replaceable subassemblies and competitive TCO.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Monoblock vs. Separate: Spellman excels in integrated monoblocks; Comet &amp; Gulmay offer modular tank/generator systems.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Tube Longevity: Comet metal-ceramic tubes deliver superior vacuum seal durability over glass alternatives.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Digital Controls: Modern Ethernet/RS-232 telemetry allows automatic filament ramp-up and arc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 Core Vendors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Major OEMs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Monoblock vs Modular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Integration Type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&gt;15,000 Hours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MTBF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#5   |   Executive_Deck.pptx   |   Author: Lalit Sabnani   |   Date: 2026-10-12   |   Verified Sources: Varex Imaging Industrial X-Ray Sources | Gartner Strategic Sourcing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HARDWARE ARCHITECTURE | High-Voltage Multiplier &amp; Tube Construction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Hardware architecture breakdown of 160kV 3mA generator systems:</a:t>
            </a:r>
            <a:br/>
            <a:r>
              <a:t>• Power Inverter: 40kHz-100kHz resonant inverter minimizing energy stored in high-voltage circuit to protect tube during arcs.</a:t>
            </a:r>
            <a:br/>
            <a:r>
              <a:t>• Multiplier Stack: Silicon avalanche diode and high-voltage ceramic capacitor voltage multiplier immersed in transformer oil.</a:t>
            </a:r>
            <a:br/>
            <a:r>
              <a:t>• X-Ray Tube Head: Directional beam exit through 0.5mm beryllium window; water/oil circulation jackets on target anode.</a:t>
            </a:r>
            <a:br/>
            <a:r>
              <a:t>• Arc Quench Circuitry: Ultra-fast sub-microsecond arc detection shuts down drive pulses to eliminate tube pit damage.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High-Voltage Inverter: High-frequency PWM inverter with Cockcroft-Walton multi-stage multiplier circuit.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Vacuum Enclosure: Ceramic-metal brazed envelope with getters for ultra-high vacuum maintenance.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Filament Regulation: Closed-loop optical or transformer-isolated feedback loops control 3mA emission current.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160 kV CP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Operating Potential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480 W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Beam Power Rating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Dielectric Oil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Insulation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#6   |   Executive_Deck.pptx   |   Author: Lalit Sabnani   |   Date: 2026-10-12   |   Verified Sources: IEEE Industry Applications Standards | ASTM E1000 Radiographic Imaging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SOFTWARE ARCHITECTURE | Digital Control, Diagnostics &amp; Telemetry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Software architecture and telemetry suite for generator operation:</a:t>
            </a:r>
            <a:br/>
            <a:r>
              <a:t>• Automatic Tube Conditioning: Dynamically ramps voltage based on elapsed idle time to safely outgas tube elements.</a:t>
            </a:r>
            <a:br/>
            <a:r>
              <a:t>• Predictive Diagnostics: Logs arc count frequency and filament resistance trends to forecast remaining tube life.</a:t>
            </a:r>
            <a:br/>
            <a:r>
              <a:t>• Safety Interlock Logic: Dual-channel hardware and software watchdog timers disable high voltage when doors or interlocks open.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Smart Conditioning: Automated seasoning and warm-up cycles prevent tube vacuum breakdown after downtime.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Real-Time Telemetry: Continuously monitors kV, mA, filament hours, oil temperature, and arc event counters.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PLC / System Integration: Standardized Modbus TCP or Ethernet/IP interfaces for seamless automated inspection cell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Ethernet / RS-232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Control Interfaces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Adaptive Profile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Warm-Up Automation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100 Hz Real-Time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Telemetry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#7   |   Executive_Deck.pptx   |   Author: Lalit Sabnani   |   Date: 2026-10-12   |   Verified Sources: IEC 61508 Functional Safety Standards | ISO 9001 Software Quality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LIFECYCLE &amp; SERVICES | Maintenance Contracts, Calibration &amp; Tube Replacement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Lifecycle support framework for 160kV X-ray generation equipment:</a:t>
            </a:r>
            <a:br/>
            <a:r>
              <a:t>• Preventive Maintenance: Regular dielectric oil breakdown voltage testing, cable receptacle re-greasing, and cooling flush.</a:t>
            </a:r>
            <a:br/>
            <a:r>
              <a:t>• Tube Rebuilding Programs: Core-exchange credits for depleted tube inserts reduce replacement CapEx by 25-35%.</a:t>
            </a:r>
            <a:br/>
            <a:r>
              <a:t>• Supplier Service Agreements: Contractual SLA commitments for emergency field engineering and advance warranty exchanges.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Consumable Economics: X-ray tube inserts require replacement every 6,000-10,000 operational hours.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Calibration Governance: Annual kV/mA recertification against NIST traceable radiation measurement standards.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Spares Strategy: Maintain on-site spare tube inserts and high-voltage cables to minimize inspection line stoppage.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6,000 - 10,000h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Tube Service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Annual NIST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Calibration Interval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&lt;24h Dispatch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Emergency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#8   |   Executive_Deck.pptx   |   Author: Lalit Sabnani   |   Date: 2026-10-12   |   Verified Sources: NIST Calibration Services Framework | ISO/IEC 17025 Laboratory Accreditation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PROCUREMENT STRATEGY | Weighted Decision Matrix for 160kV X-Ray Generator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multi-dimensional scoring framework to evaluate candidate 160kV generator suppliers:</a:t>
            </a:r>
            <a:br/>
            <a:r>
              <a:t>• Technical Rigor: Verifying beam focal spot stability, power supply ripple, and thermal margin under 480W continuous operation.</a:t>
            </a:r>
            <a:br/>
            <a:r>
              <a:t>• Commercial Robustness: 10-year TCO modeling factoring tube replacement cadence and volume purchase discounts.</a:t>
            </a:r>
            <a:br/>
            <a:r>
              <a:t>• Risk Mitigation: Factory audit of high-voltage manufacturing facilities and supplier supply chain redundancy.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Beam Performance (30%): Spot size repeatability, kV ripple (&lt;0.05%), and high-speed arc recovery.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Total Cost of Ownership (25%): Generator purchase cost, tube replacement price, and energy efficiency.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Delivery &amp; Buffer Stock (20%): OEM commitment to guaranteed lead times and regional spare parts inventory.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Stability &amp; Resolution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TCO &amp; Tube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Supply Chain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#9   |   Executive_Deck.pptx   |   Author: Lalit Sabnani   |   Date: 2026-10-12   |   Verified Sources: Gartner Strategic Sourcing Framework | IEEE Industry Procurement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TCO &amp; RISK | CapEx Intensity, Tube Replacement Cycles &amp; Supply Chain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TCO modeling and risk assessment for 160kV generator lifecycle:</a:t>
            </a:r>
            <a:br/>
            <a:r>
              <a:t>• Lifecycle Cost Distribution: Tube replacements every 8,000h represent the largest operational cost element.</a:t>
            </a:r>
            <a:br/>
            <a:r>
              <a:t>• Down-Time Financial Impact: Production line stoppage during generator failure costs up to $15,000/hour in lost output.</a:t>
            </a:r>
            <a:br/>
            <a:r>
              <a:t>• Sourcing Strategy: Dual-sourcing with 60/40 volume allocation between primary and secondary suppliers mitigates sole-source risk.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CapEx vs. OpEx: Initial equipment is 45% of 10-year cost; tube replacements and service represent 55%.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Lead Time Hazard: Single-source dependence exposes manufacturing lines to 20-28 week delivery delays.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Material Constraints: Critical raw materials (Beryllium, Tungsten, High-voltage capacitors) vulnerable to disruptions.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$45k - $95k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Upfront Generator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55% Total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Tube OpEx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24 Weeks Max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#10   |   Executive_Deck.pptx   |   Author: Lalit Sabnani   |   Date: 2026-10-12   |   Verified Sources: McKinsey Supply Chain Resilience Framework | Gartner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ROADMAP | Phased Qualification, Factory Testing &amp; Production Rollout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rigorous 16-week execution roadmap for qualification and integration:</a:t>
            </a:r>
            <a:br/>
            <a:r>
              <a:t>• Milestone 1: Finalize specifications (160kV, 3mA, spot size, cooling requirements) and issue competitive RFP.</a:t>
            </a:r>
            <a:br/>
            <a:r>
              <a:t>• Milestone 2: Execute sample radiographic image testing and stability burn-in at vendor facility.</a:t>
            </a:r>
            <a:br/>
            <a:r>
              <a:t>• Milestone 3: Full system integration into automated inspection lines and safety authority compliance signoff.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1 (W1-4): Release technical specification RFP; audit supplier production and cleanroom facilities.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2 (W5-10): Factory Acceptance Testing (FAT), 100-hour continuous burn-in, and kV stability verification.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3 (W11-16): Site Acceptance Testing (SAT), radiation safety interlock signoff, and pilot production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1 - 4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1 - RFP &amp; Audit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5 - 10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2 - FAT Benchmark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11 - 16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3 - SAT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#11   |   Executive_Deck.pptx   |   Author: Lalit Sabnani   |   Date: 2026-10-12   |   Verified Sources: ASQ Quality Management System Guidelines | PMI Program Governance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RECOMMENDATIONS | Executive Dual-Vendor Strategy &amp; Buffer Stock Framework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Strategic sourcing recommendations for 160kV X-ray generator acquisition:</a:t>
            </a:r>
            <a:br/>
            <a:r>
              <a:t>• Dual-OEM Framework: Eliminates production line shutdown risk while driving pricing competition between vendors.</a:t>
            </a:r>
            <a:br/>
            <a:r>
              <a:t>• Contract Terms: Require guaranteed 48-hour emergency spare delivery and standardized 3-year warranty.</a:t>
            </a:r>
            <a:br/>
            <a:r>
              <a:t>• Interface Standardization: Adopt universal high-voltage connector standards across both vendors.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Dual-Sourcing Award: Contract Comet Group (60% volume) and Spellman HV / Varex (40% volume) for resilience.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Consignment Spares: Negotiate vendor-managed inventory (VMI) for 2 on-site spare tubes and 1 replacement generator.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Volume Rebates: Secure 15% volume discounts across 2-year commitment with locked tube replacement pricing.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60% / 40% Split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Vendor Allocation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12 - 18%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Cost Savings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-40% SLA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#12   |   Executive_Deck.pptx   |   Author: Lalit Sabnani   |   Date: 2026-10-12   |   Verified Sources: IEEE Industry Procurement Best Practices | CIGRE Equipment Sourcing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PLAN | Immediate Action Items, Budget Allocation &amp; ROI Governance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Immediate execution plan with $380,000 budget authorization:</a:t>
            </a:r>
            <a:br/>
            <a:r>
              <a:t>• Action Item 1: Convene cross-functional engineering and procurement team to finalize interface specs.</a:t>
            </a:r>
            <a:br/>
            <a:r>
              <a:t>• Action Item 2: Secure executive signing authority for 2-year Master Service Agreements (MSAs).</a:t>
            </a:r>
            <a:br/>
            <a:r>
              <a:t>• Expected Value: Protect $1.4M in annual manufacturing yield by avoiding uninspected component field failures.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1 (Week 1-2): Issue final RFP specification sheet to Comet, Varex, and Spellman.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2 (Week 3-6): Complete commercial bid negotiations and select dual-sourcing winners.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3 (Week 7-16): Oversee factory testing, receive first delivery, and complete production commissioning.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$380,000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Implementation Budget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Execution Horizon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$1.4M / Year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Annual Avoided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#13   |   Executive_Deck.pptx   |   Author: Lalit Sabnani   |   Date: 2026-10-12   |   Verified Sources: PMI Project Management Standards | Gartner Facilities &amp; Infrastructure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