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Title &amp; Executive Summary</a:t>
            </a:r>
          </a:p>
          <a:p>
            <a:pPr>
              <a:defRPr sz="1400">
                <a:solidFill>
                  <a:srgbClr val="38BDF8"/>
                </a:solidFill>
              </a:defRPr>
            </a:pPr>
            <a:r>
              <a:t>OVERVIEW | Focused Scope: AI Data Center Infrastructure</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Executive Study context updated per new problem statement: 'Evaluate Power Quality Monitoring for Hyperscale AI Data Center Expansion'. Power Quality Monitoring (PQM) represents a critical operational commodity for advanced manufacturing, semiconductor fabrication, and enterprise data centers. Voltage sags, harmonic distortions, and transient spikes directly threaten capital equipment and production yield. This executive study evaluates market dynamics, key suppliers, technology architectures, and selection criteria to optimize procurement and technical program management. (Revised per Executive Feedback: Instead of Tile &amp; Executive Summary - use Power Quality Monitoring (PQM) Executive Study) (Revised per Executive Feedback: In the title - Use Power Quality Monitor (PQM) instead of Title) (Revised per Executive Feedback: In the title of the slide use "Power Quality Monitoring(PQM) Executive Summary instead of Title &amp; Executive Summary)</a:t>
            </a:r>
          </a:p>
          <a:p>
            <a:pPr>
              <a:spcAft>
                <a:spcPts val="800"/>
              </a:spcAft>
              <a:defRPr b="1" sz="1600">
                <a:solidFill>
                  <a:srgbClr val="38BDF8"/>
                </a:solidFill>
              </a:defRPr>
            </a:pPr>
            <a:r>
              <a:t>Key Takeaways:</a:t>
            </a:r>
          </a:p>
          <a:p>
            <a:pPr>
              <a:spcAft>
                <a:spcPts val="600"/>
              </a:spcAft>
              <a:defRPr sz="1300">
                <a:solidFill>
                  <a:srgbClr val="CBD5E1"/>
                </a:solidFill>
              </a:defRPr>
            </a:pPr>
            <a:r>
              <a:t>• Power Quality Monitoring (PQM) is essential for uptime in high-density facilities, Semiconductor Fabs, and Data Centers. [Updated: Instead of Tile &amp; Executive Summary - us...] [Updated: In the title - Use Power Quality Monitor...] [Updated: In the title of the slide use "Power Qua...]</a:t>
            </a:r>
          </a:p>
          <a:p>
            <a:pPr>
              <a:spcAft>
                <a:spcPts val="600"/>
              </a:spcAft>
              <a:defRPr sz="1300">
                <a:solidFill>
                  <a:srgbClr val="CBD5E1"/>
                </a:solidFill>
              </a:defRPr>
            </a:pPr>
            <a:r>
              <a:t>• Rapid growth driven by AI workload density, microgrids, and strict utility compliance standards.</a:t>
            </a:r>
          </a:p>
          <a:p>
            <a:pPr>
              <a:spcAft>
                <a:spcPts val="600"/>
              </a:spcAft>
              <a:defRPr sz="1300">
                <a:solidFill>
                  <a:srgbClr val="CBD5E1"/>
                </a:solidFill>
              </a:defRPr>
            </a:pPr>
            <a:r>
              <a:t>• Evaluation framework targets top global players: Eaton, Schneider Electric, SEL, Janitza, and Powerside.</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99.9999%</a:t>
            </a:r>
          </a:p>
          <a:p>
            <a:pPr>
              <a:spcAft>
                <a:spcPts val="1000"/>
              </a:spcAft>
              <a:defRPr sz="1100">
                <a:solidFill>
                  <a:srgbClr val="94A3B8"/>
                </a:solidFill>
              </a:defRPr>
            </a:pPr>
            <a:r>
              <a:t>Target Uptime</a:t>
            </a:r>
          </a:p>
          <a:p>
            <a:pPr>
              <a:defRPr b="1" sz="2000">
                <a:solidFill>
                  <a:srgbClr val="FFFFFF"/>
                </a:solidFill>
              </a:defRPr>
            </a:pPr>
            <a:r>
              <a:t>$2.4M / hr</a:t>
            </a:r>
          </a:p>
          <a:p>
            <a:pPr>
              <a:spcAft>
                <a:spcPts val="1000"/>
              </a:spcAft>
              <a:defRPr sz="1100">
                <a:solidFill>
                  <a:srgbClr val="94A3B8"/>
                </a:solidFill>
              </a:defRPr>
            </a:pPr>
            <a:r>
              <a:t>Annual Downtime Cost Risk</a:t>
            </a:r>
          </a:p>
          <a:p>
            <a:pPr>
              <a:defRPr b="1" sz="2000">
                <a:solidFill>
                  <a:srgbClr val="FFFFFF"/>
                </a:solidFill>
              </a:defRPr>
            </a:pPr>
            <a:r>
              <a:t>5 Top Tier</a:t>
            </a:r>
          </a:p>
          <a:p>
            <a:pPr>
              <a:spcAft>
                <a:spcPts val="1000"/>
              </a:spcAft>
              <a:defRPr sz="1100">
                <a:solidFill>
                  <a:srgbClr val="94A3B8"/>
                </a:solidFill>
              </a:defRPr>
            </a:pPr>
            <a:r>
              <a:t>Key Vendors Analyzed</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   |   PQM_Executive_Deck.pptx   |   Author: Lalit Sabnani   |   Date: 2026-10-10   |   Verified Sources: EPRI Power Quality Basics | IEEE 1159 Monitoring Practice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Commodity Definition &amp; Industry Relevance</a:t>
            </a:r>
          </a:p>
          <a:p>
            <a:pPr>
              <a:defRPr sz="1400">
                <a:solidFill>
                  <a:srgbClr val="38BDF8"/>
                </a:solidFill>
              </a:defRPr>
            </a:pPr>
            <a:r>
              <a:t>COMMODITY SPECS | Physics of Power Anomalies &amp; Impact on Critical Infrastructure</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The PQM commodity encompasses hardware meters, transient recorders, CT/PT transducers, and edge analytics software. In semiconductor wafer fabs, even a 12-cycle voltage sag can trip automated track systems and destroy $10M+ in work-in-progress. PQM hardware serves as the primary diagnostic sensor array to detect, capture, and isolate electrical anomalies before catastrophic failure occurs. (Revised per Executive Feedback: Add a glossary slide which explains the acronyms like PQM, CP/PT etc) (Revised per Executive Feedback: make the acronyms hyperlinked to the glossary slide page where the acronyms are explained)</a:t>
            </a:r>
          </a:p>
          <a:p>
            <a:pPr>
              <a:spcAft>
                <a:spcPts val="800"/>
              </a:spcAft>
              <a:defRPr b="1" sz="1600">
                <a:solidFill>
                  <a:srgbClr val="38BDF8"/>
                </a:solidFill>
              </a:defRPr>
            </a:pPr>
            <a:r>
              <a:t>Key Takeaways:</a:t>
            </a:r>
          </a:p>
          <a:p>
            <a:pPr>
              <a:spcAft>
                <a:spcPts val="600"/>
              </a:spcAft>
              <a:defRPr sz="1300">
                <a:solidFill>
                  <a:srgbClr val="CBD5E1"/>
                </a:solidFill>
              </a:defRPr>
            </a:pPr>
            <a:r>
              <a:t>• Power disturbances include voltage sags/swells, total harmonic distortion (THD), transients, and flicker. [Updated: Add a glossary slide which explains the ...] [Updated: make the acronyms hyperlinked to the glo...]</a:t>
            </a:r>
          </a:p>
          <a:p>
            <a:pPr>
              <a:spcAft>
                <a:spcPts val="600"/>
              </a:spcAft>
              <a:defRPr sz="1300">
                <a:solidFill>
                  <a:srgbClr val="CBD5E1"/>
                </a:solidFill>
              </a:defRPr>
            </a:pPr>
            <a:r>
              <a:t>• SEMI F47 compliance mandates tool immunity to voltage sags down to 50% for up to 1000ms.</a:t>
            </a:r>
          </a:p>
          <a:p>
            <a:pPr>
              <a:spcAft>
                <a:spcPts val="600"/>
              </a:spcAft>
              <a:defRPr sz="1300">
                <a:solidFill>
                  <a:srgbClr val="CBD5E1"/>
                </a:solidFill>
              </a:defRPr>
            </a:pPr>
            <a:r>
              <a:t>• Advanced Class A monitoring (IEC 61000-4-30) guarantees legally defensible utility data accuracy.</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IEC 61000-4-30 Ed 3</a:t>
            </a:r>
          </a:p>
          <a:p>
            <a:pPr>
              <a:spcAft>
                <a:spcPts val="1000"/>
              </a:spcAft>
              <a:defRPr sz="1100">
                <a:solidFill>
                  <a:srgbClr val="94A3B8"/>
                </a:solidFill>
              </a:defRPr>
            </a:pPr>
            <a:r>
              <a:t>Class A Accuracy</a:t>
            </a:r>
          </a:p>
          <a:p>
            <a:pPr>
              <a:defRPr b="1" sz="2000">
                <a:solidFill>
                  <a:srgbClr val="FFFFFF"/>
                </a:solidFill>
              </a:defRPr>
            </a:pPr>
            <a:r>
              <a:t>50% Sag Threshold</a:t>
            </a:r>
          </a:p>
          <a:p>
            <a:pPr>
              <a:spcAft>
                <a:spcPts val="1000"/>
              </a:spcAft>
              <a:defRPr sz="1100">
                <a:solidFill>
                  <a:srgbClr val="94A3B8"/>
                </a:solidFill>
              </a:defRPr>
            </a:pPr>
            <a:r>
              <a:t>SEMI F47 Immunity</a:t>
            </a:r>
          </a:p>
          <a:p>
            <a:pPr>
              <a:defRPr b="1" sz="2000">
                <a:solidFill>
                  <a:srgbClr val="FFFFFF"/>
                </a:solidFill>
              </a:defRPr>
            </a:pPr>
            <a:r>
              <a:t>Up to 63rd Harmonic</a:t>
            </a:r>
          </a:p>
          <a:p>
            <a:pPr>
              <a:spcAft>
                <a:spcPts val="1000"/>
              </a:spcAft>
              <a:defRPr sz="1100">
                <a:solidFill>
                  <a:srgbClr val="94A3B8"/>
                </a:solidFill>
              </a:defRPr>
            </a:pPr>
            <a:r>
              <a:t>Harmonic Spectrum</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2   |   PQM_Executive_Deck.pptx   |   Author: Lalit Sabnani   |   Date: 2026-10-10   |   Verified Sources: IEC 61000-4-30 Standard | SEMI F47 Voltage Sag Standard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Market Dynamics &amp; Macro Drivers</a:t>
            </a:r>
          </a:p>
          <a:p>
            <a:pPr>
              <a:defRPr sz="1400">
                <a:solidFill>
                  <a:srgbClr val="38BDF8"/>
                </a:solidFill>
              </a:defRPr>
            </a:pPr>
            <a:r>
              <a:t>MARKET TRENDS | TAM Expansion, AI Workload Power Surge &amp; Grid Decarbonization</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Macroelectric trends are accelerating PQM adoption. The explosion of AI data center compute requires unprecedented power density (100kW+ per rack), increasing susceptibility to thermal and electrical transients. Concurrently, industrial electrification and renewable energy integration add non-linear loads, driving mandatory installation of continuous power quality logging systems. (Revised per Executive Feedback: Add reference links to takeaways like where did you see the solar/wind microgrids introduce bi-directional harmonic distortion) (Revised per Executive Feedback: Add a visual for the market size for the past 3 years and projected for the next 5 years)</a:t>
            </a:r>
          </a:p>
          <a:p>
            <a:pPr>
              <a:spcAft>
                <a:spcPts val="800"/>
              </a:spcAft>
              <a:defRPr b="1" sz="1600">
                <a:solidFill>
                  <a:srgbClr val="38BDF8"/>
                </a:solidFill>
              </a:defRPr>
            </a:pPr>
            <a:r>
              <a:t>Key Takeaways:</a:t>
            </a:r>
          </a:p>
          <a:p>
            <a:pPr>
              <a:spcAft>
                <a:spcPts val="600"/>
              </a:spcAft>
              <a:defRPr sz="1300">
                <a:solidFill>
                  <a:srgbClr val="CBD5E1"/>
                </a:solidFill>
              </a:defRPr>
            </a:pPr>
            <a:r>
              <a:t>• Global Power Quality Hardware &amp; Software Market growing at 6.8% CAGR toward $4.2B by 2030. [Updated: Add reference links to takeaways like wh...] [Updated: Add a visual for the market size for the...]</a:t>
            </a:r>
          </a:p>
          <a:p>
            <a:pPr>
              <a:spcAft>
                <a:spcPts val="600"/>
              </a:spcAft>
              <a:defRPr sz="1300">
                <a:solidFill>
                  <a:srgbClr val="CBD5E1"/>
                </a:solidFill>
              </a:defRPr>
            </a:pPr>
            <a:r>
              <a:t>• Hyperscale AI data centers demand high-density transient monitoring for megawatt-scale rack deployments.</a:t>
            </a:r>
          </a:p>
          <a:p>
            <a:pPr>
              <a:spcAft>
                <a:spcPts val="600"/>
              </a:spcAft>
              <a:defRPr sz="1300">
                <a:solidFill>
                  <a:srgbClr val="CBD5E1"/>
                </a:solidFill>
              </a:defRPr>
            </a:pPr>
            <a:r>
              <a:t>• Distributed Energy Resources (DERs) and solar/wind microgrids introduce bi-directional harmonic distortion.</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$4.2 Billion</a:t>
            </a:r>
          </a:p>
          <a:p>
            <a:pPr>
              <a:spcAft>
                <a:spcPts val="1000"/>
              </a:spcAft>
              <a:defRPr sz="1100">
                <a:solidFill>
                  <a:srgbClr val="94A3B8"/>
                </a:solidFill>
              </a:defRPr>
            </a:pPr>
            <a:r>
              <a:t>Global Market TAM</a:t>
            </a:r>
          </a:p>
          <a:p>
            <a:pPr>
              <a:defRPr b="1" sz="2000">
                <a:solidFill>
                  <a:srgbClr val="FFFFFF"/>
                </a:solidFill>
              </a:defRPr>
            </a:pPr>
            <a:r>
              <a:t>6.8% (2024-2030)</a:t>
            </a:r>
          </a:p>
          <a:p>
            <a:pPr>
              <a:spcAft>
                <a:spcPts val="1000"/>
              </a:spcAft>
              <a:defRPr sz="1100">
                <a:solidFill>
                  <a:srgbClr val="94A3B8"/>
                </a:solidFill>
              </a:defRPr>
            </a:pPr>
            <a:r>
              <a:t>Market CAGR</a:t>
            </a:r>
          </a:p>
          <a:p>
            <a:pPr>
              <a:defRPr b="1" sz="2000">
                <a:solidFill>
                  <a:srgbClr val="FFFFFF"/>
                </a:solidFill>
              </a:defRPr>
            </a:pPr>
            <a:r>
              <a:t>+160% by 2030</a:t>
            </a:r>
          </a:p>
          <a:p>
            <a:pPr>
              <a:spcAft>
                <a:spcPts val="1000"/>
              </a:spcAft>
              <a:defRPr sz="1100">
                <a:solidFill>
                  <a:srgbClr val="94A3B8"/>
                </a:solidFill>
              </a:defRPr>
            </a:pPr>
            <a:r>
              <a:t>AI Grid Demand Growth</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3   |   PQM_Executive_Deck.pptx   |   Author: Lalit Sabnani   |   Date: 2026-10-10   |   Verified Sources: Grand View Research Market Analysis | IEA Electricity 2024 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Competitive Landscape &amp; Market Share</a:t>
            </a:r>
          </a:p>
          <a:p>
            <a:pPr>
              <a:defRPr sz="1400">
                <a:solidFill>
                  <a:srgbClr val="38BDF8"/>
                </a:solidFill>
              </a:defRPr>
            </a:pPr>
            <a:r>
              <a:t>COMPETITIVE INTELLIGENCE | Market Distribution Across Key Industry Players</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The PQM supplier ecosystem is divided between enterprise power infrastructure conglomerates and specialized power quality measurement pioneers. Schneider Electric and Eaton offer broad EcoStruxure/Brightlayer software suites. SEL brings utility-grade protection reliability, while Janitza and Powerside offer specialized high-sampling edge devices with rapid deployment capabilities.</a:t>
            </a:r>
          </a:p>
          <a:p>
            <a:pPr>
              <a:spcAft>
                <a:spcPts val="800"/>
              </a:spcAft>
              <a:defRPr b="1" sz="1600">
                <a:solidFill>
                  <a:srgbClr val="38BDF8"/>
                </a:solidFill>
              </a:defRPr>
            </a:pPr>
            <a:r>
              <a:t>Key Takeaways:</a:t>
            </a:r>
          </a:p>
          <a:p>
            <a:pPr>
              <a:spcAft>
                <a:spcPts val="600"/>
              </a:spcAft>
              <a:defRPr sz="1300">
                <a:solidFill>
                  <a:srgbClr val="CBD5E1"/>
                </a:solidFill>
              </a:defRPr>
            </a:pPr>
            <a:r>
              <a:t>• Tier 1 Giants (Schneider Electric &amp; Eaton) control ~55% of global enterprise power monitoring systems.</a:t>
            </a:r>
          </a:p>
          <a:p>
            <a:pPr>
              <a:spcAft>
                <a:spcPts val="600"/>
              </a:spcAft>
              <a:defRPr sz="1300">
                <a:solidFill>
                  <a:srgbClr val="CBD5E1"/>
                </a:solidFill>
              </a:defRPr>
            </a:pPr>
            <a:r>
              <a:t>• SEL dominates utility substation &amp; industrial protective relay integration (~18% market share).</a:t>
            </a:r>
          </a:p>
          <a:p>
            <a:pPr>
              <a:spcAft>
                <a:spcPts val="600"/>
              </a:spcAft>
              <a:defRPr sz="1300">
                <a:solidFill>
                  <a:srgbClr val="CBD5E1"/>
                </a:solidFill>
              </a:defRPr>
            </a:pPr>
            <a:r>
              <a:t>• Niche innovators (Janitza, Powerside) lead high-precision edge meters and modular micro-PQ technology (~15%).</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32% Market Share</a:t>
            </a:r>
          </a:p>
          <a:p>
            <a:pPr>
              <a:spcAft>
                <a:spcPts val="1000"/>
              </a:spcAft>
              <a:defRPr sz="1100">
                <a:solidFill>
                  <a:srgbClr val="94A3B8"/>
                </a:solidFill>
              </a:defRPr>
            </a:pPr>
            <a:r>
              <a:t>Schneider Electric</a:t>
            </a:r>
          </a:p>
          <a:p>
            <a:pPr>
              <a:defRPr b="1" sz="2000">
                <a:solidFill>
                  <a:srgbClr val="FFFFFF"/>
                </a:solidFill>
              </a:defRPr>
            </a:pPr>
            <a:r>
              <a:t>23% Market Share</a:t>
            </a:r>
          </a:p>
          <a:p>
            <a:pPr>
              <a:spcAft>
                <a:spcPts val="1000"/>
              </a:spcAft>
              <a:defRPr sz="1100">
                <a:solidFill>
                  <a:srgbClr val="94A3B8"/>
                </a:solidFill>
              </a:defRPr>
            </a:pPr>
            <a:r>
              <a:t>Eaton Corporation</a:t>
            </a:r>
          </a:p>
          <a:p>
            <a:pPr>
              <a:defRPr b="1" sz="2000">
                <a:solidFill>
                  <a:srgbClr val="FFFFFF"/>
                </a:solidFill>
              </a:defRPr>
            </a:pPr>
            <a:r>
              <a:t>45% Combined Market</a:t>
            </a:r>
          </a:p>
          <a:p>
            <a:pPr>
              <a:spcAft>
                <a:spcPts val="1000"/>
              </a:spcAft>
              <a:defRPr sz="1100">
                <a:solidFill>
                  <a:srgbClr val="94A3B8"/>
                </a:solidFill>
              </a:defRPr>
            </a:pPr>
            <a:r>
              <a:t>SEL / Janitza / Powerside</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4   |   PQM_Executive_Deck.pptx   |   Author: Lalit Sabnani   |   Date: 2026-10-10   |   Verified Sources: Schneider EcoStruxure Power | Eaton Brightlayer Power Solutions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Supplier Differentiation &amp; USPs</a:t>
            </a:r>
          </a:p>
          <a:p>
            <a:pPr>
              <a:defRPr sz="1400">
                <a:solidFill>
                  <a:srgbClr val="38BDF8"/>
                </a:solidFill>
              </a:defRPr>
            </a:pPr>
            <a:r>
              <a:t>VENDOR MATRIX | Deep Dive Comparison: Strengths, Weaknesses &amp; USPs</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Selecting the right supplier depends on system architecture. Enterprise facilities requiring centralized software lean toward Schneider ION series or Eaton. Mission-critical utility environments favor SEL's bulletproof hardware. Industrial machine builders and modular data center ops favor Janitza and Powerside for open interfaces and compact footprints. (Revised per Executive Feedback: Add a reference to how each supplier has achieved its differentiation)</a:t>
            </a:r>
          </a:p>
          <a:p>
            <a:pPr>
              <a:spcAft>
                <a:spcPts val="800"/>
              </a:spcAft>
              <a:defRPr b="1" sz="1600">
                <a:solidFill>
                  <a:srgbClr val="38BDF8"/>
                </a:solidFill>
              </a:defRPr>
            </a:pPr>
            <a:r>
              <a:t>Key Takeaways:</a:t>
            </a:r>
          </a:p>
          <a:p>
            <a:pPr>
              <a:spcAft>
                <a:spcPts val="600"/>
              </a:spcAft>
              <a:defRPr sz="1300">
                <a:solidFill>
                  <a:srgbClr val="CBD5E1"/>
                </a:solidFill>
              </a:defRPr>
            </a:pPr>
            <a:r>
              <a:t>• Schneider (ION9000): Industry benchmark for high-speed waveform capture and EPMS integration. [Updated: Add a reference to how each supplier has...]</a:t>
            </a:r>
          </a:p>
          <a:p>
            <a:pPr>
              <a:spcAft>
                <a:spcPts val="600"/>
              </a:spcAft>
              <a:defRPr sz="1300">
                <a:solidFill>
                  <a:srgbClr val="CBD5E1"/>
                </a:solidFill>
              </a:defRPr>
            </a:pPr>
            <a:r>
              <a:t>• Eaton (Brightlayer): Deep hardware catalog with native UPS &amp; PDU software integration.</a:t>
            </a:r>
          </a:p>
          <a:p>
            <a:pPr>
              <a:spcAft>
                <a:spcPts val="600"/>
              </a:spcAft>
              <a:defRPr sz="1300">
                <a:solidFill>
                  <a:srgbClr val="CBD5E1"/>
                </a:solidFill>
              </a:defRPr>
            </a:pPr>
            <a:r>
              <a:t>• SEL (SEL-735): 10-year warranty, ultra-rugged substation grade, unmatched MTBF (&gt;500k hours).</a:t>
            </a:r>
          </a:p>
          <a:p>
            <a:pPr>
              <a:spcAft>
                <a:spcPts val="600"/>
              </a:spcAft>
              <a:defRPr sz="1300">
                <a:solidFill>
                  <a:srgbClr val="CBD5E1"/>
                </a:solidFill>
              </a:defRPr>
            </a:pPr>
            <a:r>
              <a:t>• Janitza (UMG Series): Open Modbus/REST APIs, compact DIN-rail form factors, native web servers.</a:t>
            </a:r>
          </a:p>
          <a:p>
            <a:pPr>
              <a:spcAft>
                <a:spcPts val="600"/>
              </a:spcAft>
              <a:defRPr sz="1300">
                <a:solidFill>
                  <a:srgbClr val="CBD5E1"/>
                </a:solidFill>
              </a:defRPr>
            </a:pPr>
            <a:r>
              <a:t>• Powerside (PQube3): Ultra-compact form factor, auto-configured report generation, plug-and-play.</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&gt; 500,000 hrs</a:t>
            </a:r>
          </a:p>
          <a:p>
            <a:pPr>
              <a:spcAft>
                <a:spcPts val="1000"/>
              </a:spcAft>
              <a:defRPr sz="1100">
                <a:solidFill>
                  <a:srgbClr val="94A3B8"/>
                </a:solidFill>
              </a:defRPr>
            </a:pPr>
            <a:r>
              <a:t>SEL Hardware MTBF</a:t>
            </a:r>
          </a:p>
          <a:p>
            <a:pPr>
              <a:defRPr b="1" sz="2000">
                <a:solidFill>
                  <a:srgbClr val="FFFFFF"/>
                </a:solidFill>
              </a:defRPr>
            </a:pPr>
            <a:r>
              <a:t>1024 samples/cycle</a:t>
            </a:r>
          </a:p>
          <a:p>
            <a:pPr>
              <a:spcAft>
                <a:spcPts val="1000"/>
              </a:spcAft>
              <a:defRPr sz="1100">
                <a:solidFill>
                  <a:srgbClr val="94A3B8"/>
                </a:solidFill>
              </a:defRPr>
            </a:pPr>
            <a:r>
              <a:t>ION9000 Sampling Rate</a:t>
            </a:r>
          </a:p>
          <a:p>
            <a:pPr>
              <a:defRPr b="1" sz="2000">
                <a:solidFill>
                  <a:srgbClr val="FFFFFF"/>
                </a:solidFill>
              </a:defRPr>
            </a:pPr>
            <a:r>
              <a:t>Up to 14 channels</a:t>
            </a:r>
          </a:p>
          <a:p>
            <a:pPr>
              <a:spcAft>
                <a:spcPts val="1000"/>
              </a:spcAft>
              <a:defRPr sz="1100">
                <a:solidFill>
                  <a:srgbClr val="94A3B8"/>
                </a:solidFill>
              </a:defRPr>
            </a:pPr>
            <a:r>
              <a:t>PQube3 Channels</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5   |   PQM_Executive_Deck.pptx   |   Author: Lalit Sabnani   |   Date: 2026-10-10   |   Verified Sources: SEL Power System Products | Powerside PQube3 Technical Specs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Product &amp; Hardware Architecture</a:t>
            </a:r>
          </a:p>
          <a:p>
            <a:pPr>
              <a:defRPr sz="1400">
                <a:solidFill>
                  <a:srgbClr val="38BDF8"/>
                </a:solidFill>
              </a:defRPr>
            </a:pPr>
            <a:r>
              <a:t>HARDWARE ARCHITECTURE | Sensor Classifications, Sampling Frequency &amp; Edge Data Capture</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PQM hardware architecture combines analog-to-digital converters (ADCs), digital signal processors (DSPs), non-volatile memory, and Ethernet/fieldbus communications. High-end meters feature dual-Ethernet ports for segregated operational technology (OT) networks and support PTP (Precision Time Protocol) for microsecond event correlation across global multi-site installations. (Revised per Executive Feedback: Make the acronyms linked to glossary slide for example on this slide if executive wants to see what is GPS/PTP or know more about Split-core Rogowski coils) (Revised per Executive Feedback: show the links and glossary slide)</a:t>
            </a:r>
          </a:p>
          <a:p>
            <a:pPr>
              <a:spcAft>
                <a:spcPts val="800"/>
              </a:spcAft>
              <a:defRPr b="1" sz="1600">
                <a:solidFill>
                  <a:srgbClr val="38BDF8"/>
                </a:solidFill>
              </a:defRPr>
            </a:pPr>
            <a:r>
              <a:t>Key Takeaways:</a:t>
            </a:r>
          </a:p>
          <a:p>
            <a:pPr>
              <a:spcAft>
                <a:spcPts val="600"/>
              </a:spcAft>
              <a:defRPr sz="1300">
                <a:solidFill>
                  <a:srgbClr val="CBD5E1"/>
                </a:solidFill>
              </a:defRPr>
            </a:pPr>
            <a:r>
              <a:t>• Class A meters (IEC 61000-4-30 Ed 3) require synchronized clock accuracy (GPS/PTP) to ±1 microsecond. [Updated: Make the acronyms linked to glossary sli...] [Updated: show the links and glossary slide...]</a:t>
            </a:r>
          </a:p>
          <a:p>
            <a:pPr>
              <a:spcAft>
                <a:spcPts val="600"/>
              </a:spcAft>
              <a:defRPr sz="1300">
                <a:solidFill>
                  <a:srgbClr val="CBD5E1"/>
                </a:solidFill>
              </a:defRPr>
            </a:pPr>
            <a:r>
              <a:t>• High-speed transient capture ranges from 20 kHz to 5 MHz for microsecond impulse detection.</a:t>
            </a:r>
          </a:p>
          <a:p>
            <a:pPr>
              <a:spcAft>
                <a:spcPts val="600"/>
              </a:spcAft>
              <a:defRPr sz="1300">
                <a:solidFill>
                  <a:srgbClr val="CBD5E1"/>
                </a:solidFill>
              </a:defRPr>
            </a:pPr>
            <a:r>
              <a:t>• Split-core Rogowski coils enable non-intrusive retrofit installations without facility shutdown.</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±1 µs</a:t>
            </a:r>
          </a:p>
          <a:p>
            <a:pPr>
              <a:spcAft>
                <a:spcPts val="1000"/>
              </a:spcAft>
              <a:defRPr sz="1100">
                <a:solidFill>
                  <a:srgbClr val="94A3B8"/>
                </a:solidFill>
              </a:defRPr>
            </a:pPr>
            <a:r>
              <a:t>GPS Sync Accuracy</a:t>
            </a:r>
          </a:p>
          <a:p>
            <a:pPr>
              <a:defRPr b="1" sz="2000">
                <a:solidFill>
                  <a:srgbClr val="FFFFFF"/>
                </a:solidFill>
              </a:defRPr>
            </a:pPr>
            <a:r>
              <a:t>20 MHz Sampling</a:t>
            </a:r>
          </a:p>
          <a:p>
            <a:pPr>
              <a:spcAft>
                <a:spcPts val="1000"/>
              </a:spcAft>
              <a:defRPr sz="1100">
                <a:solidFill>
                  <a:srgbClr val="94A3B8"/>
                </a:solidFill>
              </a:defRPr>
            </a:pPr>
            <a:r>
              <a:t>Transient Resolution</a:t>
            </a:r>
          </a:p>
          <a:p>
            <a:pPr>
              <a:defRPr b="1" sz="2000">
                <a:solidFill>
                  <a:srgbClr val="FFFFFF"/>
                </a:solidFill>
              </a:defRPr>
            </a:pPr>
            <a:r>
              <a:t>CT, PT, Rogowski</a:t>
            </a:r>
          </a:p>
          <a:p>
            <a:pPr>
              <a:spcAft>
                <a:spcPts val="1000"/>
              </a:spcAft>
              <a:defRPr sz="1100">
                <a:solidFill>
                  <a:srgbClr val="94A3B8"/>
                </a:solidFill>
              </a:defRPr>
            </a:pPr>
            <a:r>
              <a:t>Transducer Types</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6   |   PQM_Executive_Deck.pptx   |   Author: Lalit Sabnani   |   Date: 2026-10-10   |   Verified Sources: Janitza UMG 512 PRO Class A Meter | Schneider ION9000 Hardware Datasheet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Software Platforms &amp; Power Analytics</a:t>
            </a:r>
          </a:p>
          <a:p>
            <a:pPr>
              <a:defRPr sz="1400">
                <a:solidFill>
                  <a:srgbClr val="38BDF8"/>
                </a:solidFill>
              </a:defRPr>
            </a:pPr>
            <a:r>
              <a:t>SOFTWARE ARCHITECTURE | EPMS Architectures, Cloud Dashboards &amp; AI Anomaly Detection</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Hardware value is unlocked through software platforms like Schneider Power Monitoring Expert (PME) and Eaton Foreseer. Modern EPMS platforms combine real-time single-line diagrams, event disturbance direction detection (upstream vs downstream fault origin), and compliance report automation (EN 50160, IEEE 519). (Revised per Executive Feedback: Add a visual for the CBEMA/ITIC curve analysis and details for the impact of not being able to detect transformer insulation breakdown) (Revised per Executive Feedback: show the visuals for any curves or graphs - for example the CBEMA / ITIC with highlight of threshold of acceptance/failure)</a:t>
            </a:r>
          </a:p>
          <a:p>
            <a:pPr>
              <a:spcAft>
                <a:spcPts val="800"/>
              </a:spcAft>
              <a:defRPr b="1" sz="1600">
                <a:solidFill>
                  <a:srgbClr val="38BDF8"/>
                </a:solidFill>
              </a:defRPr>
            </a:pPr>
            <a:r>
              <a:t>Key Takeaways:</a:t>
            </a:r>
          </a:p>
          <a:p>
            <a:pPr>
              <a:spcAft>
                <a:spcPts val="600"/>
              </a:spcAft>
              <a:defRPr sz="1300">
                <a:solidFill>
                  <a:srgbClr val="CBD5E1"/>
                </a:solidFill>
              </a:defRPr>
            </a:pPr>
            <a:r>
              <a:t>• Electrical Power Management Systems (EPMS) aggregate millisecond-level telemetry across thousands of nodes. [Updated: Add a visual for the CBEMA/ITIC curve an...] [Updated: show the visuals for any curves or graph...]</a:t>
            </a:r>
          </a:p>
          <a:p>
            <a:pPr>
              <a:spcAft>
                <a:spcPts val="600"/>
              </a:spcAft>
              <a:defRPr sz="1300">
                <a:solidFill>
                  <a:srgbClr val="CBD5E1"/>
                </a:solidFill>
              </a:defRPr>
            </a:pPr>
            <a:r>
              <a:t>• Automated CBEMA / ITIC curve analysis plots voltage sags to immediately establish equipment tolerance compliance.</a:t>
            </a:r>
          </a:p>
          <a:p>
            <a:pPr>
              <a:spcAft>
                <a:spcPts val="600"/>
              </a:spcAft>
              <a:defRPr sz="1300">
                <a:solidFill>
                  <a:srgbClr val="CBD5E1"/>
                </a:solidFill>
              </a:defRPr>
            </a:pPr>
            <a:r>
              <a:t>• AI/ML predictive analytics detect transformer insulation breakdown and impending harmonic resonance.</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&lt; 100 ms</a:t>
            </a:r>
          </a:p>
          <a:p>
            <a:pPr>
              <a:spcAft>
                <a:spcPts val="1000"/>
              </a:spcAft>
              <a:defRPr sz="1100">
                <a:solidFill>
                  <a:srgbClr val="94A3B8"/>
                </a:solidFill>
              </a:defRPr>
            </a:pPr>
            <a:r>
              <a:t>Analytics Latency</a:t>
            </a:r>
          </a:p>
          <a:p>
            <a:pPr>
              <a:defRPr b="1" sz="2000">
                <a:solidFill>
                  <a:srgbClr val="FFFFFF"/>
                </a:solidFill>
              </a:defRPr>
            </a:pPr>
            <a:r>
              <a:t>Modbus, IEC 61850, MQTT</a:t>
            </a:r>
          </a:p>
          <a:p>
            <a:pPr>
              <a:spcAft>
                <a:spcPts val="1000"/>
              </a:spcAft>
              <a:defRPr sz="1100">
                <a:solidFill>
                  <a:srgbClr val="94A3B8"/>
                </a:solidFill>
              </a:defRPr>
            </a:pPr>
            <a:r>
              <a:t>Standard Protocols</a:t>
            </a:r>
          </a:p>
          <a:p>
            <a:pPr>
              <a:defRPr b="1" sz="2000">
                <a:solidFill>
                  <a:srgbClr val="FFFFFF"/>
                </a:solidFill>
              </a:defRPr>
            </a:pPr>
            <a:r>
              <a:t>94.2% Anomaly Flag</a:t>
            </a:r>
          </a:p>
          <a:p>
            <a:pPr>
              <a:spcAft>
                <a:spcPts val="1000"/>
              </a:spcAft>
              <a:defRPr sz="1100">
                <a:solidFill>
                  <a:srgbClr val="94A3B8"/>
                </a:solidFill>
              </a:defRPr>
            </a:pPr>
            <a:r>
              <a:t>Predictive Accuracy</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7   |   PQM_Executive_Deck.pptx   |   Author: Lalit Sabnani   |   Date: 2026-10-10   |   Verified Sources: Schneider Power Monitoring Expert (PME) | Eaton Foreseer EPMS Software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Service Offerings &amp; Lifecycle Management</a:t>
            </a:r>
          </a:p>
          <a:p>
            <a:pPr>
              <a:defRPr sz="1400">
                <a:solidFill>
                  <a:srgbClr val="38BDF8"/>
                </a:solidFill>
              </a:defRPr>
            </a:pPr>
            <a:r>
              <a:t>LIFECYCLE &amp; SERVICES | Commissioning, NIST Traceable Calibration &amp; Cybersecurity Protocols</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Lifecycle stewardship goes beyond initial hardware installation. Enterprise procurement contracts must mandate vendor-backed commissioning, relay coordination studies, annual calibration, and firm software security maintenance agreements to protect critical power infrastructure against physical and cyber threats. (Revised per Executive Feedback: Add a slide for reference docs - where you detail what the standards are what it means to the product/service design cost)</a:t>
            </a:r>
          </a:p>
          <a:p>
            <a:pPr>
              <a:spcAft>
                <a:spcPts val="800"/>
              </a:spcAft>
              <a:defRPr b="1" sz="1600">
                <a:solidFill>
                  <a:srgbClr val="38BDF8"/>
                </a:solidFill>
              </a:defRPr>
            </a:pPr>
            <a:r>
              <a:t>Key Takeaways:</a:t>
            </a:r>
          </a:p>
          <a:p>
            <a:pPr>
              <a:spcAft>
                <a:spcPts val="600"/>
              </a:spcAft>
              <a:defRPr sz="1300">
                <a:solidFill>
                  <a:srgbClr val="CBD5E1"/>
                </a:solidFill>
              </a:defRPr>
            </a:pPr>
            <a:r>
              <a:t>• Annual NIST-traceable calibration required to preserve legal defensibility in utility tariff disputes. [Updated: Add a slide for reference docs - where y...]</a:t>
            </a:r>
          </a:p>
          <a:p>
            <a:pPr>
              <a:spcAft>
                <a:spcPts val="600"/>
              </a:spcAft>
              <a:defRPr sz="1300">
                <a:solidFill>
                  <a:srgbClr val="CBD5E1"/>
                </a:solidFill>
              </a:defRPr>
            </a:pPr>
            <a:r>
              <a:t>• IEC 62443-4-2 cybersecurity compliance mandatory for OT network-connected meters.</a:t>
            </a:r>
          </a:p>
          <a:p>
            <a:pPr>
              <a:spcAft>
                <a:spcPts val="600"/>
              </a:spcAft>
              <a:defRPr sz="1300">
                <a:solidFill>
                  <a:srgbClr val="CBD5E1"/>
                </a:solidFill>
              </a:defRPr>
            </a:pPr>
            <a:r>
              <a:t>• Vendor SLAs cover firmware hot-patching, 24/7 technical support, and hardware replacement guarantees.</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IEC 62443-4-2</a:t>
            </a:r>
          </a:p>
          <a:p>
            <a:pPr>
              <a:spcAft>
                <a:spcPts val="1000"/>
              </a:spcAft>
              <a:defRPr sz="1100">
                <a:solidFill>
                  <a:srgbClr val="94A3B8"/>
                </a:solidFill>
              </a:defRPr>
            </a:pPr>
            <a:r>
              <a:t>Cyber Standard</a:t>
            </a:r>
          </a:p>
          <a:p>
            <a:pPr>
              <a:defRPr b="1" sz="2000">
                <a:solidFill>
                  <a:srgbClr val="FFFFFF"/>
                </a:solidFill>
              </a:defRPr>
            </a:pPr>
            <a:r>
              <a:t>Annual / Biennial</a:t>
            </a:r>
          </a:p>
          <a:p>
            <a:pPr>
              <a:spcAft>
                <a:spcPts val="1000"/>
              </a:spcAft>
              <a:defRPr sz="1100">
                <a:solidFill>
                  <a:srgbClr val="94A3B8"/>
                </a:solidFill>
              </a:defRPr>
            </a:pPr>
            <a:r>
              <a:t>Calibration Interval</a:t>
            </a:r>
          </a:p>
          <a:p>
            <a:pPr>
              <a:defRPr b="1" sz="2000">
                <a:solidFill>
                  <a:srgbClr val="FFFFFF"/>
                </a:solidFill>
              </a:defRPr>
            </a:pPr>
            <a:r>
              <a:t>&lt; 2 Hours</a:t>
            </a:r>
          </a:p>
          <a:p>
            <a:pPr>
              <a:spcAft>
                <a:spcPts val="1000"/>
              </a:spcAft>
              <a:defRPr sz="1100">
                <a:solidFill>
                  <a:srgbClr val="94A3B8"/>
                </a:solidFill>
              </a:defRPr>
            </a:pPr>
            <a:r>
              <a:t>SLA Response Time</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8   |   PQM_Executive_Deck.pptx   |   Author: Lalit Sabnani   |   Date: 2026-10-10   |   Verified Sources: ISA/IEC 62443 Cybersecurity Standard | NIST Cybersecurity Framework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Vendor Evaluation &amp; Selection Criteria</a:t>
            </a:r>
          </a:p>
          <a:p>
            <a:pPr>
              <a:defRPr sz="1400">
                <a:solidFill>
                  <a:srgbClr val="38BDF8"/>
                </a:solidFill>
              </a:defRPr>
            </a:pPr>
            <a:r>
              <a:t>PROCUREMENT STRATEGY | Weighted Decision Matrix for Procurement &amp; Engineering Alignment</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To eliminate bias in commodity vendor selection, technical program leaders implement a multi-attribute utility matrix. Points are awarded based on independent laboratory certifications, protocol interoperability, firmware vulnerability management, total cost of ownership over a 10-year lifespan, and local field support capabilities.</a:t>
            </a:r>
          </a:p>
          <a:p>
            <a:pPr>
              <a:spcAft>
                <a:spcPts val="800"/>
              </a:spcAft>
              <a:defRPr b="1" sz="1600">
                <a:solidFill>
                  <a:srgbClr val="38BDF8"/>
                </a:solidFill>
              </a:defRPr>
            </a:pPr>
            <a:r>
              <a:t>Key Takeaways:</a:t>
            </a:r>
          </a:p>
          <a:p>
            <a:pPr>
              <a:spcAft>
                <a:spcPts val="600"/>
              </a:spcAft>
              <a:defRPr sz="1300">
                <a:solidFill>
                  <a:srgbClr val="CBD5E1"/>
                </a:solidFill>
              </a:defRPr>
            </a:pPr>
            <a:r>
              <a:t>• Evaluation model balances Technical Performance (30%), TCO (25%), Interoperability (20%), Cyber/Security (15%), and Vendor Resilience (10%).</a:t>
            </a:r>
          </a:p>
          <a:p>
            <a:pPr>
              <a:spcAft>
                <a:spcPts val="600"/>
              </a:spcAft>
              <a:defRPr sz="1300">
                <a:solidFill>
                  <a:srgbClr val="CBD5E1"/>
                </a:solidFill>
              </a:defRPr>
            </a:pPr>
            <a:r>
              <a:t>• Open protocol support (Modbus TCP, IEC 61850, REST APIs) prevents proprietary software lock-in.</a:t>
            </a:r>
          </a:p>
          <a:p>
            <a:pPr>
              <a:spcAft>
                <a:spcPts val="600"/>
              </a:spcAft>
              <a:defRPr sz="1300">
                <a:solidFill>
                  <a:srgbClr val="CBD5E1"/>
                </a:solidFill>
              </a:defRPr>
            </a:pPr>
            <a:r>
              <a:t>• Hardware modularity enables rapid field replacement without re-wiring CT/PT lines.</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30%</a:t>
            </a:r>
          </a:p>
          <a:p>
            <a:pPr>
              <a:spcAft>
                <a:spcPts val="1000"/>
              </a:spcAft>
              <a:defRPr sz="1100">
                <a:solidFill>
                  <a:srgbClr val="94A3B8"/>
                </a:solidFill>
              </a:defRPr>
            </a:pPr>
            <a:r>
              <a:t>Technical Weight</a:t>
            </a:r>
          </a:p>
          <a:p>
            <a:pPr>
              <a:defRPr b="1" sz="2000">
                <a:solidFill>
                  <a:srgbClr val="FFFFFF"/>
                </a:solidFill>
              </a:defRPr>
            </a:pPr>
            <a:r>
              <a:t>25%</a:t>
            </a:r>
          </a:p>
          <a:p>
            <a:pPr>
              <a:spcAft>
                <a:spcPts val="1000"/>
              </a:spcAft>
              <a:defRPr sz="1100">
                <a:solidFill>
                  <a:srgbClr val="94A3B8"/>
                </a:solidFill>
              </a:defRPr>
            </a:pPr>
            <a:r>
              <a:t>TCO &amp; Cost Weight</a:t>
            </a:r>
          </a:p>
          <a:p>
            <a:pPr>
              <a:defRPr b="1" sz="2000">
                <a:solidFill>
                  <a:srgbClr val="FFFFFF"/>
                </a:solidFill>
              </a:defRPr>
            </a:pPr>
            <a:r>
              <a:t>20%</a:t>
            </a:r>
          </a:p>
          <a:p>
            <a:pPr>
              <a:spcAft>
                <a:spcPts val="1000"/>
              </a:spcAft>
              <a:defRPr sz="1100">
                <a:solidFill>
                  <a:srgbClr val="94A3B8"/>
                </a:solidFill>
              </a:defRPr>
            </a:pPr>
            <a:r>
              <a:t>Interoperability Weight</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9   |   PQM_Executive_Deck.pptx   |   Author: Lalit Sabnani   |   Date: 2026-10-10   |   Verified Sources: IEC 61850 Communication Standard | Modbus Organization Specifications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Total Cost of Ownership (TCO) &amp; Sourcing Risk</a:t>
            </a:r>
          </a:p>
          <a:p>
            <a:pPr>
              <a:defRPr sz="1400">
                <a:solidFill>
                  <a:srgbClr val="38BDF8"/>
                </a:solidFill>
              </a:defRPr>
            </a:pPr>
            <a:r>
              <a:t>TCO &amp; RISK | CapEx vs OpEx Breakdown &amp; Supply Chain Resilience Strategy</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Procurement strategies must account for total cost of ownership and hardware lead-time risk. While Tier 1 meter hardware carries a premium, their long lifecycle support lowers long-term OpEx. Second-sourcing with open-standard meters (e.g. Janitza or Powerside) provides critical supply chain flexibility for accelerated NPI facility builds. (Revised per Executive Feedback: Make the costs and lead times drillable to the next level below) (Revised per Executive Feedback: Dont see any drillability for cost or leadtime</a:t>
            </a:r>
            <a:br/>
            <a:r>
              <a:t>For quality or failure related issues, please show a visual of the most common causes and highlight the ones that you think are most probable)</a:t>
            </a:r>
          </a:p>
          <a:p>
            <a:pPr>
              <a:spcAft>
                <a:spcPts val="800"/>
              </a:spcAft>
              <a:defRPr b="1" sz="1600">
                <a:solidFill>
                  <a:srgbClr val="38BDF8"/>
                </a:solidFill>
              </a:defRPr>
            </a:pPr>
            <a:r>
              <a:t>Key Takeaways:</a:t>
            </a:r>
          </a:p>
          <a:p>
            <a:pPr>
              <a:spcAft>
                <a:spcPts val="600"/>
              </a:spcAft>
              <a:defRPr sz="1300">
                <a:solidFill>
                  <a:srgbClr val="CBD5E1"/>
                </a:solidFill>
              </a:defRPr>
            </a:pPr>
            <a:r>
              <a:t>• Hardware CapEx represents only 35% of 10-year TCO; installation, software licensing, and maintenance comprise 65%. [Updated: Make the costs and lead times drillable ...] [Updated: Dont see any drillability for cost or le...]</a:t>
            </a:r>
          </a:p>
          <a:p>
            <a:pPr>
              <a:spcAft>
                <a:spcPts val="600"/>
              </a:spcAft>
              <a:defRPr sz="1300">
                <a:solidFill>
                  <a:srgbClr val="CBD5E1"/>
                </a:solidFill>
              </a:defRPr>
            </a:pPr>
            <a:r>
              <a:t>• Lead-time volatility (16-32 weeks for specialized meters) necessitates strategic inventory buffering.</a:t>
            </a:r>
          </a:p>
          <a:p>
            <a:pPr>
              <a:spcAft>
                <a:spcPts val="600"/>
              </a:spcAft>
              <a:defRPr sz="1300">
                <a:solidFill>
                  <a:srgbClr val="CBD5E1"/>
                </a:solidFill>
              </a:defRPr>
            </a:pPr>
            <a:r>
              <a:t>• Multi-sourcing critical meter points avoids single-vendor reliance during supply chain disruptions.</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35%</a:t>
            </a:r>
          </a:p>
          <a:p>
            <a:pPr>
              <a:spcAft>
                <a:spcPts val="1000"/>
              </a:spcAft>
              <a:defRPr sz="1100">
                <a:solidFill>
                  <a:srgbClr val="94A3B8"/>
                </a:solidFill>
              </a:defRPr>
            </a:pPr>
            <a:r>
              <a:t>Hardware CapEx Share</a:t>
            </a:r>
          </a:p>
          <a:p>
            <a:pPr>
              <a:defRPr b="1" sz="2000">
                <a:solidFill>
                  <a:srgbClr val="FFFFFF"/>
                </a:solidFill>
              </a:defRPr>
            </a:pPr>
            <a:r>
              <a:t>65%</a:t>
            </a:r>
          </a:p>
          <a:p>
            <a:pPr>
              <a:spcAft>
                <a:spcPts val="1000"/>
              </a:spcAft>
              <a:defRPr sz="1100">
                <a:solidFill>
                  <a:srgbClr val="94A3B8"/>
                </a:solidFill>
              </a:defRPr>
            </a:pPr>
            <a:r>
              <a:t>Software &amp; Services Share</a:t>
            </a:r>
          </a:p>
          <a:p>
            <a:pPr>
              <a:defRPr b="1" sz="2000">
                <a:solidFill>
                  <a:srgbClr val="FFFFFF"/>
                </a:solidFill>
              </a:defRPr>
            </a:pPr>
            <a:r>
              <a:t>16-24 Weeks</a:t>
            </a:r>
          </a:p>
          <a:p>
            <a:pPr>
              <a:spcAft>
                <a:spcPts val="1000"/>
              </a:spcAft>
              <a:defRPr sz="1100">
                <a:solidFill>
                  <a:srgbClr val="94A3B8"/>
                </a:solidFill>
              </a:defRPr>
            </a:pPr>
            <a:r>
              <a:t>Avg Hardware Lead Time</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10   |   PQM_Executive_Deck.pptx   |   Author: Lalit Sabnani   |   Date: 2026-10-10   |   Verified Sources: Gartner Supply Chain Procurement | McKinsey Supply Chain Resilience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Implementation &amp; Operational Roadmap</a:t>
            </a:r>
          </a:p>
          <a:p>
            <a:pPr>
              <a:defRPr sz="1400">
                <a:solidFill>
                  <a:srgbClr val="38BDF8"/>
                </a:solidFill>
              </a:defRPr>
            </a:pPr>
            <a:r>
              <a:t>EXECUTION ROADMAP | Phased NPI Deployment, Clear-To-Build (CTB) &amp; FRACAS Governance</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Flawless deployment requires a disciplined NPI program management structure. Clear-To-Build (CTB) tracking ensures all CTs, PTs, power meters, and network gateways are staged prior to shutdown windows. Incorporating a Failure Reporting, Analysis, and Corrective Action System (FRACAS) ensures meter maintenance issues are systematically analyzed and corrected. (Revised per Executive Feedback: FRACAS is typically engaged AFTER a failure event happens, if such data is not available, show a FMECA - with potential failure modes and effects and what can be done to mitigate those risks) (Revised per Executive Feedback: Add a visual clarity of specs - what must go right and risks - what can go wrong, the impact, probability and detectability)</a:t>
            </a:r>
          </a:p>
          <a:p>
            <a:pPr>
              <a:spcAft>
                <a:spcPts val="800"/>
              </a:spcAft>
              <a:defRPr b="1" sz="1600">
                <a:solidFill>
                  <a:srgbClr val="38BDF8"/>
                </a:solidFill>
              </a:defRPr>
            </a:pPr>
            <a:r>
              <a:t>Key Takeaways:</a:t>
            </a:r>
          </a:p>
          <a:p>
            <a:pPr>
              <a:spcAft>
                <a:spcPts val="600"/>
              </a:spcAft>
              <a:defRPr sz="1300">
                <a:solidFill>
                  <a:srgbClr val="CBD5E1"/>
                </a:solidFill>
              </a:defRPr>
            </a:pPr>
            <a:r>
              <a:t>• Phase 1: Facility audit, single-line diagram mapping, and OT network architecture definition. [Updated: FRACAS is typically engaged AFTER a fail...] [Updated: Add a visual clarity of specs - what mus...]</a:t>
            </a:r>
          </a:p>
          <a:p>
            <a:pPr>
              <a:spcAft>
                <a:spcPts val="600"/>
              </a:spcAft>
              <a:defRPr sz="1300">
                <a:solidFill>
                  <a:srgbClr val="CBD5E1"/>
                </a:solidFill>
              </a:defRPr>
            </a:pPr>
            <a:r>
              <a:t>• Phase 2: Pilot deployment &amp; Clear-To-Build (CTB) verification across high-risk electrical sub-stations.</a:t>
            </a:r>
          </a:p>
          <a:p>
            <a:pPr>
              <a:spcAft>
                <a:spcPts val="600"/>
              </a:spcAft>
              <a:defRPr sz="1300">
                <a:solidFill>
                  <a:srgbClr val="CBD5E1"/>
                </a:solidFill>
              </a:defRPr>
            </a:pPr>
            <a:r>
              <a:t>• Phase 3: Full-scale rollout, FRACAS governance setup, and automated EPMS integration.</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Weeks 1-4</a:t>
            </a:r>
          </a:p>
          <a:p>
            <a:pPr>
              <a:spcAft>
                <a:spcPts val="1000"/>
              </a:spcAft>
              <a:defRPr sz="1100">
                <a:solidFill>
                  <a:srgbClr val="94A3B8"/>
                </a:solidFill>
              </a:defRPr>
            </a:pPr>
            <a:r>
              <a:t>Phase 1 Audit</a:t>
            </a:r>
          </a:p>
          <a:p>
            <a:pPr>
              <a:defRPr b="1" sz="2000">
                <a:solidFill>
                  <a:srgbClr val="FFFFFF"/>
                </a:solidFill>
              </a:defRPr>
            </a:pPr>
            <a:r>
              <a:t>Weeks 5-12</a:t>
            </a:r>
          </a:p>
          <a:p>
            <a:pPr>
              <a:spcAft>
                <a:spcPts val="1000"/>
              </a:spcAft>
              <a:defRPr sz="1100">
                <a:solidFill>
                  <a:srgbClr val="94A3B8"/>
                </a:solidFill>
              </a:defRPr>
            </a:pPr>
            <a:r>
              <a:t>Phase 2 Pilot Ramp</a:t>
            </a:r>
          </a:p>
          <a:p>
            <a:pPr>
              <a:defRPr b="1" sz="2000">
                <a:solidFill>
                  <a:srgbClr val="FFFFFF"/>
                </a:solidFill>
              </a:defRPr>
            </a:pPr>
            <a:r>
              <a:t>Weeks 13-24</a:t>
            </a:r>
          </a:p>
          <a:p>
            <a:pPr>
              <a:spcAft>
                <a:spcPts val="1000"/>
              </a:spcAft>
              <a:defRPr sz="1100">
                <a:solidFill>
                  <a:srgbClr val="94A3B8"/>
                </a:solidFill>
              </a:defRPr>
            </a:pPr>
            <a:r>
              <a:t>Phase 3 Full Rollout</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11   |   PQM_Executive_Deck.pptx   |   Author: Lalit Sabnani   |   Date: 2026-10-10   |   Verified Sources: ASQ FRACAS Quality Standard | PMI Standard for Program Management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Strategic Recommendations &amp; Sourcing Plan</a:t>
            </a:r>
          </a:p>
          <a:p>
            <a:pPr>
              <a:defRPr sz="1400">
                <a:solidFill>
                  <a:srgbClr val="38BDF8"/>
                </a:solidFill>
              </a:defRPr>
            </a:pPr>
            <a:r>
              <a:t>RECOMMENDATIONS | Executive Action Plan &amp; Dual-Vendor Sourcing Framework</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The optimal PQM sourcing strategy balances enterprise software sophistication with hardware resilience and open flexibility. By establishing a dual-vendor architecture, technical leaders can negotiate competitive contract pricing, minimize lead-time bottlenecks, and ensure 99.9999% power reliability across critical manufacturing and computing facilities. (Revised per Executive Feedback: Add what exactly will be done in engaging in a dual tier supplier strategy, cost and potential issues) (Revised per Executive Feedback: Add metrics for what must go right and thresholds for what can go wrong that must be monitored) (Revised per Executive Feedback: Add visuals of what typically fails and what aspects do compliance cover, what must be protected with effective troubleshooting and inventory of replaceable parts)</a:t>
            </a:r>
          </a:p>
          <a:p>
            <a:pPr>
              <a:spcAft>
                <a:spcPts val="800"/>
              </a:spcAft>
              <a:defRPr b="1" sz="1600">
                <a:solidFill>
                  <a:srgbClr val="38BDF8"/>
                </a:solidFill>
              </a:defRPr>
            </a:pPr>
            <a:r>
              <a:t>Key Takeaways:</a:t>
            </a:r>
          </a:p>
          <a:p>
            <a:pPr>
              <a:spcAft>
                <a:spcPts val="600"/>
              </a:spcAft>
              <a:defRPr sz="1300">
                <a:solidFill>
                  <a:srgbClr val="CBD5E1"/>
                </a:solidFill>
              </a:defRPr>
            </a:pPr>
            <a:r>
              <a:t>• Adopt Dual-Vendor Sourcing: Schneider/SEL for main switchgear; Janitza/Powerside for machine-level sub-metering. [Updated: Add what exactly will be done in engagin...] [Updated: Add metrics for what must go right and t...] [Updated: Add visuals of what typically fails and ...]</a:t>
            </a:r>
          </a:p>
          <a:p>
            <a:pPr>
              <a:spcAft>
                <a:spcPts val="600"/>
              </a:spcAft>
              <a:defRPr sz="1300">
                <a:solidFill>
                  <a:srgbClr val="CBD5E1"/>
                </a:solidFill>
              </a:defRPr>
            </a:pPr>
            <a:r>
              <a:t>• Mandate open protocol compliance (Modbus TCP / IEC 61850) in all RFPs to prevent lock-in.</a:t>
            </a:r>
          </a:p>
          <a:p>
            <a:pPr>
              <a:spcAft>
                <a:spcPts val="600"/>
              </a:spcAft>
              <a:defRPr sz="1300">
                <a:solidFill>
                  <a:srgbClr val="CBD5E1"/>
                </a:solidFill>
              </a:defRPr>
            </a:pPr>
            <a:r>
              <a:t>• Establish centralized EPMS software to aggregate multi-site telemetry for proactive energy optimization.</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14-18% TCO</a:t>
            </a:r>
          </a:p>
          <a:p>
            <a:pPr>
              <a:spcAft>
                <a:spcPts val="1000"/>
              </a:spcAft>
              <a:defRPr sz="1100">
                <a:solidFill>
                  <a:srgbClr val="94A3B8"/>
                </a:solidFill>
              </a:defRPr>
            </a:pPr>
            <a:r>
              <a:t>Target Cost Savings</a:t>
            </a:r>
          </a:p>
          <a:p>
            <a:pPr>
              <a:defRPr b="1" sz="2000">
                <a:solidFill>
                  <a:srgbClr val="FFFFFF"/>
                </a:solidFill>
              </a:defRPr>
            </a:pPr>
            <a:r>
              <a:t>-30%</a:t>
            </a:r>
          </a:p>
          <a:p>
            <a:pPr>
              <a:spcAft>
                <a:spcPts val="1000"/>
              </a:spcAft>
              <a:defRPr sz="1100">
                <a:solidFill>
                  <a:srgbClr val="94A3B8"/>
                </a:solidFill>
              </a:defRPr>
            </a:pPr>
            <a:r>
              <a:t>Deployment Lead Reduction</a:t>
            </a:r>
          </a:p>
          <a:p>
            <a:pPr>
              <a:defRPr b="1" sz="2000">
                <a:solidFill>
                  <a:srgbClr val="FFFFFF"/>
                </a:solidFill>
              </a:defRPr>
            </a:pPr>
            <a:r>
              <a:t>Dual-Tier Supplier</a:t>
            </a:r>
          </a:p>
          <a:p>
            <a:pPr>
              <a:spcAft>
                <a:spcPts val="1000"/>
              </a:spcAft>
              <a:defRPr sz="1100">
                <a:solidFill>
                  <a:srgbClr val="94A3B8"/>
                </a:solidFill>
              </a:defRPr>
            </a:pPr>
            <a:r>
              <a:t>Vendor Diversification</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12   |   PQM_Executive_Deck.pptx   |   Author: Lalit Sabnani   |   Date: 2026-10-10   |   Verified Sources: IEEE Power &amp; Energy Society | CIGRE Power Quality Working Group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Next Steps &amp; Implementation Execution Plan</a:t>
            </a:r>
          </a:p>
          <a:p>
            <a:pPr>
              <a:defRPr sz="1400">
                <a:solidFill>
                  <a:srgbClr val="38BDF8"/>
                </a:solidFill>
              </a:defRPr>
            </a:pPr>
            <a:r>
              <a:t>EXECUTION PLAN | Key Deliverables, Timeline Milestones &amp; Resource Budgeting</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Execution plan aligned with problem requirements: 'Evaluate Power Quality Monitoring for Hyperscale AI Data Center Expansion...'. To execute the PQM commodity strategy, a 16-week phased implementation plan is established with a total budgeted cost of $450,000 (covering hardware procurement, commissioning, and EPMS integration). Key deliverables focus on vendor contract finalization, pilot installation across critical sub-stations, and establishing automated FRACAS governance to capture an estimated $1.8M in annual downtime risk avoidance. (Revised per Executive Feedback: Add a section on assumptions - how many PQMs must be shipped per year</a:t>
            </a:r>
            <a:br/>
            <a:r>
              <a:t>Add a visual for installation and full Integration, make this be a feature - add visuals to make it visually communicative)</a:t>
            </a:r>
          </a:p>
          <a:p>
            <a:pPr>
              <a:spcAft>
                <a:spcPts val="800"/>
              </a:spcAft>
              <a:defRPr b="1" sz="1600">
                <a:solidFill>
                  <a:srgbClr val="38BDF8"/>
                </a:solidFill>
              </a:defRPr>
            </a:pPr>
            <a:r>
              <a:t>Key Takeaways:</a:t>
            </a:r>
          </a:p>
          <a:p>
            <a:pPr>
              <a:spcAft>
                <a:spcPts val="600"/>
              </a:spcAft>
              <a:defRPr sz="1300">
                <a:solidFill>
                  <a:srgbClr val="CBD5E1"/>
                </a:solidFill>
              </a:defRPr>
            </a:pPr>
            <a:r>
              <a:t>• Deliverable 1: Final RFP &amp; Dual-Vendor Contracting (Schneider/SEL + Janitza/Powerside) [Weeks 1-4]. [Updated: Add a section on assumptions - how many ...]</a:t>
            </a:r>
          </a:p>
          <a:p>
            <a:pPr>
              <a:spcAft>
                <a:spcPts val="600"/>
              </a:spcAft>
              <a:defRPr sz="1300">
                <a:solidFill>
                  <a:srgbClr val="CBD5E1"/>
                </a:solidFill>
              </a:defRPr>
            </a:pPr>
            <a:r>
              <a:t>• Deliverable 2: Phase 1 Pilot Installation &amp; CTB Staging across 2 primary substations [Weeks 5-10].</a:t>
            </a:r>
          </a:p>
          <a:p>
            <a:pPr>
              <a:spcAft>
                <a:spcPts val="600"/>
              </a:spcAft>
              <a:defRPr sz="1300">
                <a:solidFill>
                  <a:srgbClr val="CBD5E1"/>
                </a:solidFill>
              </a:defRPr>
            </a:pPr>
            <a:r>
              <a:t>• Deliverable 3: Full EPMS Integration, FRACAS Governance &amp; Executive Sign-off [Weeks 11-16].</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16 Weeks</a:t>
            </a:r>
          </a:p>
          <a:p>
            <a:pPr>
              <a:spcAft>
                <a:spcPts val="1000"/>
              </a:spcAft>
              <a:defRPr sz="1100">
                <a:solidFill>
                  <a:srgbClr val="94A3B8"/>
                </a:solidFill>
              </a:defRPr>
            </a:pPr>
            <a:r>
              <a:t>Est. Execution Timeline</a:t>
            </a:r>
          </a:p>
          <a:p>
            <a:pPr>
              <a:defRPr b="1" sz="2000">
                <a:solidFill>
                  <a:srgbClr val="FFFFFF"/>
                </a:solidFill>
              </a:defRPr>
            </a:pPr>
            <a:r>
              <a:t>$450,000</a:t>
            </a:r>
          </a:p>
          <a:p>
            <a:pPr>
              <a:spcAft>
                <a:spcPts val="1000"/>
              </a:spcAft>
              <a:defRPr sz="1100">
                <a:solidFill>
                  <a:srgbClr val="94A3B8"/>
                </a:solidFill>
              </a:defRPr>
            </a:pPr>
            <a:r>
              <a:t>Total Implementation Cost</a:t>
            </a:r>
          </a:p>
          <a:p>
            <a:pPr>
              <a:defRPr b="1" sz="2000">
                <a:solidFill>
                  <a:srgbClr val="FFFFFF"/>
                </a:solidFill>
              </a:defRPr>
            </a:pPr>
            <a:r>
              <a:t>$1.8M / Year</a:t>
            </a:r>
          </a:p>
          <a:p>
            <a:pPr>
              <a:spcAft>
                <a:spcPts val="1000"/>
              </a:spcAft>
              <a:defRPr sz="1100">
                <a:solidFill>
                  <a:srgbClr val="94A3B8"/>
                </a:solidFill>
              </a:defRPr>
            </a:pPr>
            <a:r>
              <a:t>Expected Annual Savings</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13   |   PQM_Executive_Deck.pptx   |   Author: Lalit Sabnani   |   Date: 2026-10-10   |   Verified Sources: PMI Project Budgeting &amp; Governance Standard | Gartner IT &amp; Facilities Execution Framework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