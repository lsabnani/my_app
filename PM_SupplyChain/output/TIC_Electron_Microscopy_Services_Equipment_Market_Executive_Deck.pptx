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B5DF0-2E3D-4A3C-8B32-91A9589A0F2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09204-3F8D-40DB-B08B-C22305C48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38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09204-3F8D-40DB-B08B-C22305C4843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00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rPr lang="en-US" dirty="0"/>
              <a:t>Testing Inspection &amp; Certification (TIC) </a:t>
            </a:r>
            <a:r>
              <a:rPr dirty="0"/>
              <a:t>Executive Summary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rPr dirty="0"/>
              <a:t>OVERVIEW | Strategic Study: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Executive procurement assessment for TIC Electron Microscopy Services &amp; Equipment Market.</a:t>
            </a:r>
            <a:br/>
            <a:br/>
            <a:r>
              <a:t>• Technology Landscape Overview:</a:t>
            </a:r>
            <a:br/>
            <a:r>
              <a:t>  1. TEM (ARM200F): Transmits electrons through ultrathin samples to resolve atomic-scale defects &amp; crystal interfaces. High spatial resolution; high CapEx &amp; sample prep intensity.</a:t>
            </a:r>
            <a:br/>
            <a:r>
              <a:t>  2. SEM (Quanta 450): Scans surface morphology for routine inspection, particle contamination &amp; fractography. High throughput &amp; broad sample compatibility.</a:t>
            </a:r>
            <a:br/>
            <a:r>
              <a:t>  3. FIB-SEM (Scios 2 / Helios 5): Combines ion milling with electron imaging for site-specific cross-sectioning, 3D reconstruction &amp; TEM lamella extraction.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Technology Triad: TEM provides atomic-scale composition; SEM delivers rapid surface inspection; FIB-SEM enables targeted 3D defect milling.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Market Duality: Strategic decision between high-CapEx internal equipment acquisition vs. scalable outsourced TIC laboratory services.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Executive Objective: Establish a dual-sourcing failure analysis framework to accelerate semiconductor yield &amp; material qualification.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30751" y="3539781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rPr dirty="0"/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TEM / SEM / FIB-SEM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Technology Scope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Equipment vs. TIC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Market Model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Micro &amp; Nanoscale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Resolution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#1   |   Executive_Deck.pptx   |   Author: Lalit Sabnani   |   Date: 2026-10-10   |   Verified Sources: ISO/IEC 17025 Testing Accreditation | IEEE Industry Applications Standard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2285B-1931-D308-5AF4-FD152F06052B}"/>
              </a:ext>
            </a:extLst>
          </p:cNvPr>
          <p:cNvSpPr txBox="1"/>
          <p:nvPr/>
        </p:nvSpPr>
        <p:spPr>
          <a:xfrm>
            <a:off x="8891754" y="7159120"/>
            <a:ext cx="249960" cy="576065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effectLst/>
              </a:rPr>
              <a:t>Log inSign up for free</a:t>
            </a:r>
          </a:p>
          <a:p>
            <a:pPr marL="342900" marR="0" lvl="0" indent="-342900" algn="l"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You said: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overview of TIC market (TEM / SEM / FIB SEM devices</a:t>
            </a:r>
          </a:p>
          <a:p>
            <a:pPr marL="342900" marR="0" lvl="0" indent="-342900" algn="l"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ChatGPT said:</a:t>
            </a:r>
          </a:p>
          <a:p>
            <a:pPr marL="0" marR="0" lvl="0" indent="-342900" algn="l"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Overview of the TIC market: TEM, SEM and FIB-SEM</a:t>
            </a:r>
          </a:p>
          <a:p>
            <a:pPr marL="0" marR="0" lvl="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TIC (Testing, Inspection and Certification) market for electron microscopy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serves semiconductor manufacturers, advanced materials companies, research institutions, and industrial laboratories that need to characterize materials at micro- and nanoscale resolution. Within this market, </a:t>
            </a: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TEM (Transmission Electron Microscopy), SEM (Scanning Electron Microscopy), and FIB-SEM (Focused Ion Beam–SEM)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are complementary technologies used for failure analysis, process development, quality control, and materials research.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An important distinction: the market can be viewed as either the </a:t>
            </a: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equipment market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(sales of microscopy instruments and associated software) or the </a:t>
            </a: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TIC services market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(laboratories using these instruments to provide testing, inspection, and certification services). The two markets overlap but have different competitive dynamics and revenue models.</a:t>
            </a:r>
          </a:p>
          <a:p>
            <a:pPr marL="0" marR="0" lvl="0" indent="-342900" algn="l">
              <a:spcBef>
                <a:spcPts val="18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1. Technology landscape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TEM — Transmission Electron Microscopy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High-resolution internal structure and composition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TEM transmits electrons through an ultrathin specimen to reveal internal structures, crystal defects, interfaces, and nanoscale features. Advanced TEM and STEM systems can achieve atomic-scale imaging and chemical analysis.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TIC applications: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Semiconductor process verification, failure analysis, materials qualification, nanomaterials characterization.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Strengths: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Exceptional spatial resolution and analytical capability.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Limitations: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Specimen preparation is demanding; the field of view is relatively small; instruments and operation are expensive.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SEM — Scanning Electron Microscopy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Surface morphology and routine inspection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SEM scans a focused electron beam across a specimen to generate images of its surface and, through suitable detectors and analytical attachments, information about composition and crystallography.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TIC applications: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Surface defects, particle analysis, contamination investigations, coatings, welds, fracture surfaces, and semiconductor inspection.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Strengths: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Broad sample compatibility, relatively straightforward workflows, high throughput for many applications.</a:t>
            </a: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b="1" i="0">
                <a:solidFill>
                  <a:schemeClr val="tx1"/>
                </a:solidFill>
                <a:effectLst/>
                <a:latin typeface="+mn-lt"/>
              </a:rPr>
              <a:t>Limitations:</a:t>
            </a:r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 Conventional SEM generally provides less internal structural detail than TEM; charging and beam damage can affect certain specimens.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  <p:pic>
        <p:nvPicPr>
          <p:cNvPr id="10" name="Picture 9" descr="Transmission electron microscope ARM200F — Departement Materiaalkunde">
            <a:extLst>
              <a:ext uri="{FF2B5EF4-FFF2-40B4-BE49-F238E27FC236}">
                <a16:creationId xmlns:a16="http://schemas.microsoft.com/office/drawing/2014/main" id="{BAD3E927-A0E7-E3D9-F6F1-2693433C8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166" y="1123659"/>
            <a:ext cx="1149648" cy="1368081"/>
          </a:xfrm>
          <a:prstGeom prst="rect">
            <a:avLst/>
          </a:prstGeom>
        </p:spPr>
      </p:pic>
      <p:pic>
        <p:nvPicPr>
          <p:cNvPr id="11" name="Picture 10" descr="กล้องจุลทรรศน์อิเล็กตรอนแบบส่องกราด (SEM), FEI QUANTA 450">
            <a:extLst>
              <a:ext uri="{FF2B5EF4-FFF2-40B4-BE49-F238E27FC236}">
                <a16:creationId xmlns:a16="http://schemas.microsoft.com/office/drawing/2014/main" id="{A3BBD831-F821-FE17-A76D-7455F3590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460" y="1123659"/>
            <a:ext cx="1941011" cy="1294007"/>
          </a:xfrm>
          <a:prstGeom prst="rect">
            <a:avLst/>
          </a:prstGeom>
        </p:spPr>
      </p:pic>
      <p:pic>
        <p:nvPicPr>
          <p:cNvPr id="12" name="Picture 11" descr="Микроскоп для микроэлектроники и материаловедения Scios 2 DualBeam Thermo Scientific ™">
            <a:extLst>
              <a:ext uri="{FF2B5EF4-FFF2-40B4-BE49-F238E27FC236}">
                <a16:creationId xmlns:a16="http://schemas.microsoft.com/office/drawing/2014/main" id="{634590EE-821E-FDBC-C5B1-938712EBE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800" y="2443894"/>
            <a:ext cx="1423671" cy="14300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COMMODITY SPECS | Technical Specifications &amp; Workflow Integration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391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rPr dirty="0"/>
              <a:t>Operational alignment of electron microscopy modalities within the TIC testing pipeline:</a:t>
            </a:r>
            <a:br>
              <a:rPr dirty="0"/>
            </a:br>
            <a:r>
              <a:rPr dirty="0"/>
              <a:t>• Step 1 - SEM Screening: Rapid identification of surface anomalies, particle contamination &amp; coatings.</a:t>
            </a:r>
            <a:br>
              <a:rPr dirty="0"/>
            </a:br>
            <a:r>
              <a:rPr dirty="0"/>
              <a:t>• Step 2 - FIB-SEM Milling: Precise ion beam sectioning to access buried defects and extract TEM lamellas.</a:t>
            </a:r>
            <a:br>
              <a:rPr dirty="0"/>
            </a:br>
            <a:r>
              <a:rPr dirty="0"/>
              <a:t>• Step 3 - TEM Characterization: Sub-nanometer structural, interface, and crystal defect chemical verification.</a:t>
            </a:r>
            <a:br>
              <a:rPr dirty="0"/>
            </a:br>
            <a:r>
              <a:rPr dirty="0"/>
              <a:t>• TIC Deliverable: ISO/IEC 17025 accredited test reports, root-cause analysis, and material compliance certificates.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rPr dirty="0"/>
              <a:t>Key Takeaways:</a:t>
            </a:r>
          </a:p>
          <a:p>
            <a:pPr marL="342900" indent="-171450"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rPr dirty="0"/>
              <a:t>• TEM / STEM: Atomic-resolution characterization for semiconductor 2nm scaling &amp; advanced packaging.</a:t>
            </a:r>
          </a:p>
          <a:p>
            <a:pPr marL="342900" indent="-171450"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rPr dirty="0"/>
              <a:t>• SEM Screening: High-volume routine surface inspection, defect screening &amp; contamination isolation.</a:t>
            </a:r>
          </a:p>
          <a:p>
            <a:pPr marL="342900" indent="-171450"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rPr dirty="0"/>
              <a:t>• FIB-SEM Dual Beam: Precise site-specific cross-sectioning, buried defect access &amp; TEM lamella prep.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Atomic Scale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TEM Precision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High Volume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SEM Throughput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Site-Specific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FIB-SEM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#2   |   Executive_Deck.pptx   |   Author: Lalit Sabnani   |   Date: 2026-10-10   |   Verified Sources: ISO 9001 Quality Management Standards | NIST Engineering Infrastructure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MARKET TRENDS | Industry TAM &amp; Technology Drivers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Analyzing key macro drivers accelerating demand across TIC Electron Microscopy Services &amp; Equipment Market:</a:t>
            </a:r>
            <a:br/>
            <a:r>
              <a:t>• Semiconductor Scaling: 2nm nodes, 3D IC integration, and high-bandwidth memory (HBM) require nanometer defect verification.</a:t>
            </a:r>
            <a:br/>
            <a:r>
              <a:t>• Reliability &amp; Failure Analysis: Automotive, aerospace, and medical device OEMs mandate rigorous root-cause testing.</a:t>
            </a:r>
            <a:br/>
            <a:r>
              <a:t>• Advanced Energy Materials: Battery electrode porosity and catalyst characterization drive laboratory utilization.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Global TAM Expansion: Broader electron microscopy equipment expanding from $1.61B (2025) to $2.22B by 2031 (5.5% CAGR).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Semiconductor Outperformance: Semiconductor failure analysis dual-beam FIB-SEM systems expanding at 8.58% CAGR.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Primary Demand Drivers: 2nm chiplet scaling, heterogeneous packaging, EV battery porosity, and automated lab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$1.61B -&gt; $2.22B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Global Market TAM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+8.58% CAGR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FIB-SEM Segment CAGR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2nm / 3D Chiplets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Semiconductor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#3   |   Executive_Deck.pptx   |   Author: Lalit Sabnani   |   Date: 2026-10-10   |   Verified Sources: MarketsandMarkets Electron Microscopy Report | Mordor Intelligence Semiconductor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COMPETITIVE INTELLIGENCE | Market Positioning &amp; Supplier Share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High supplier concentration defines the electron microscopy equipment landscape:</a:t>
            </a:r>
            <a:br/>
            <a:r>
              <a:t>• Semiconductor TEM: Thermo Fisher Scientific leads with 86.17% market share.</a:t>
            </a:r>
            <a:br/>
            <a:r>
              <a:t>• Semiconductor FIB-SEM: Thermo Fisher commands 58.42% share, followed by ZEISS and TESCAN.</a:t>
            </a:r>
            <a:br/>
            <a:r>
              <a:t>• Semiconductor SEM: Hitachi High-Tech holds 30.77% share alongside JEOL and Thermo Fisher.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Hitachi High-Tech Leadership: Controls 30.77% of the semiconductor SEM inspection market.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Thermo Fisher Dominance: Holds dominant position in semiconductor TEM (86.17%) and FIB-SEM (58.42%).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Specialized Competitors: ZEISS, JEOL, TESCAN, Oxford Instruments, and Bruker provide high-precision analytical depth.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86.17% Share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Thermo Fisher TEM Share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58.42% Share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Thermo Fisher FIB Share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30.77% Share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Hitachi SEM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#4   |   Executive_Deck.pptx   |   Author: Lalit Sabnani   |   Date: 2026-10-10   |   Verified Sources: Reports and Markets Semiconductor Study | Gartner Supply Chain Magic Quadrant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VENDOR MATRIX | Equipment Manufacturers vs. TIC Service Providers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Evaluating commercial business models across equipment sales vs. outsourced TIC testing services:</a:t>
            </a:r>
            <a:br/>
            <a:r>
              <a:t>• Equipment Business: High CapEx ($1M-$5M+ per tool), long sales cycles, service contract &amp; upgrade revenues.</a:t>
            </a:r>
            <a:br/>
            <a:r>
              <a:t>• TIC Services Business: Sample-fee or hourly analysis billing, high lab utilization requirements, turnaround time SLAs.</a:t>
            </a:r>
            <a:br/>
            <a:r>
              <a:t>• Commercial Differentiation: Customer trust relies on analytical expertise, ISO/IEC 17025 compliance, and IP confidentiality.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Equipment OEMs: Thermo Fisher, ZEISS, Hitachi, JEOL, and TESCAN provide specialized hardware &amp; electron optics.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TIC Laboratories: SGS, Intertek, Bureau Veritas, Eurofins EAG, NTS, and Exponent offer outsourced analysis.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Accreditation Benchmark: ISO/IEC 17025 accreditation is required to guarantee defensible test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5 Key Players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Major OEMs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6 Global Suites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Leading TIC Labs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ISO/IEC 17025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Lab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#5   |   Executive_Deck.pptx   |   Author: Lalit Sabnani   |   Date: 2026-10-10   |   Verified Sources: ISO/IEC 17025 Laboratory Standard | Eurofins EAG Analytical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HARDWARE ARCHITECTURE | System Design &amp; Optics Architecture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Technical architecture requirements for advanced characterization systems:</a:t>
            </a:r>
            <a:br/>
            <a:r>
              <a:t>• Beam Control: Sub-nanometer spot size with ultra-stable high-voltage power supplies and vacuum chambers.</a:t>
            </a:r>
            <a:br/>
            <a:r>
              <a:t>• Sample Manipulation: 5-axis piezo stages with cryogenic cooling and in-situ mechanical testing capabilities.</a:t>
            </a:r>
            <a:br/>
            <a:r>
              <a:t>• Targeted Milling: Precise ion beam pattern deposition and cross-section preparation without lattice destruction.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Electron Optics: High-brightness Schottky field-emission guns combined with aberration correctors.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Dual-Beam FIB Milling: Gallium (Ga+) or plasma ion sources coupled with high-resolution SEM columns.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Detector Arrays: Energy-dispersive X-ray (EDS), EBSD, and high-angle annular dark-field (HAADF) detectors.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Ga+ / Plasma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Ion Beam Source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Sub-Nanometer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Imaging Resolution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EDS / EBSD / STEM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Analytical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#6   |   Executive_Deck.pptx   |   Author: Lalit Sabnani   |   Date: 2026-10-10   |   Verified Sources: Thermo Fisher Helios 5 Technical Specs | ZEISS Crossbeam Hardware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SOFTWARE ARCHITECTURE | Automated Acquisition &amp; 3D Serial Reconstruction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Software platforms transform raw electron signal into actionable failure analysis insight:</a:t>
            </a:r>
            <a:br/>
            <a:r>
              <a:t>• Automated Navigation: Unattended overnight acquisition across wafer maps and grid arrays.</a:t>
            </a:r>
            <a:br/>
            <a:r>
              <a:t>• Volumetric Reconstruction: Aligns 2D FIB slice images into 3D structural volumes for buried void detection.</a:t>
            </a:r>
            <a:br/>
            <a:r>
              <a:t>• Integrated Analytics: Real-time quantification of EDS elemental mapping and crystallographic orientation.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Automated Workflows: Scripted multi-region navigation and automated defect localization.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3D Reconstruction: Serial sectioning software for volumetric defect density visualization.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AI Image Analysis: Deep learning models for phase segmentation and particle grain sizing.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+40% Throughput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Automation Gain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Nanometer Voxels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3D Resolution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Deep Learning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Segmentation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#7   |   Executive_Deck.pptx   |   Author: Lalit Sabnani   |   Date: 2026-10-10   |   Verified Sources: Oxford Instruments Aztec Analytics | TESCAN Essence Software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LIFECYCLE &amp; SERVICES | Maintenance, Calibration &amp; Personnel Training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Lifecycle management framework for electron microscopy equipment and TIC operations:</a:t>
            </a:r>
            <a:br/>
            <a:r>
              <a:t>• Maintenance Contracts: Preventive maintenance for vacuum pumps, aperture replacement, and emitter tip alignment.</a:t>
            </a:r>
            <a:br/>
            <a:r>
              <a:t>• Human Capital Constraints: Highly specialized sample preparation skills are critical bottlenecks in lab capacity.</a:t>
            </a:r>
            <a:br/>
            <a:r>
              <a:t>• Regulatory Compliance: Ensuring testing scope aligns with accredited ISO/IEC 17025 methods.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NIST Traceable Calibration: Regular magnification and alignment recertification.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Skilled Operator Pipeline: Specialist expertise required for complex lamella preparation &amp; STEM operation.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Service SLAs: Field service contracts ensuring &lt;24 hour engineer dispatch and spare parts buffering.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Calibration Cadence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&lt; 24 Hours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Field Service SLA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Certified Expert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Operator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#8   |   Executive_Deck.pptx   |   Author: Lalit Sabnani   |   Date: 2026-10-10   |   Verified Sources: ISO/IEC 17025 Accreditation Guidelines | NIST Calibration Services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PROCUREMENT STRATEGY | Weighted Decision Matrix for Equipment vs Service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A balanced decision framework to guide microscopy procurement decisions:</a:t>
            </a:r>
            <a:br/>
            <a:r>
              <a:t>• Technical Evaluation: Instrument resolution, sample damage minimization, and analytical software depth.</a:t>
            </a:r>
            <a:br/>
            <a:r>
              <a:t>• Commercial Model: CapEx acquisition for high-volume internal fabs vs OpEx outsourced testing for R&amp;D.</a:t>
            </a:r>
            <a:br/>
            <a:r>
              <a:t>• Risk Governance: Confidentiality guarantees, IP protection, and accredited lab standards.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Analytical Resolution (30%): Sub-nanometer imaging, EDS sensitivity, and beam stability.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Total Cost of Ownership (25%): 10-year tool purchase, maintenance SLAs, and lab facility costs.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Turnaround &amp; Support (20%): Application specialist availability and sample queue velocity.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Resolution Weight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10-Yr TCO Weight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Turnaround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#9   |   Executive_Deck.pptx   |   Author: Lalit Sabnani   |   Date: 2026-10-10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TCO &amp; RISK | CapEx Intensity, Staffing Bottlenecks &amp; Substitution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TCO structure and risk governance across the electron microscopy ecosystem:</a:t>
            </a:r>
            <a:br/>
            <a:r>
              <a:t>• Capital Intensity: High fixed costs mandate high instrument utilization (&gt;80%) for commercial viability.</a:t>
            </a:r>
            <a:br/>
            <a:r>
              <a:t>• Supply Chain &amp; Geopolitics: Export controls and trade regulations affect high-end electron beam systems.</a:t>
            </a:r>
            <a:br/>
            <a:r>
              <a:t>• Turnaround Volatility: Semiconductor Fab R&amp;D cycles directly impact third-party testing demand.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CapEx Intensity: Advanced TEM/FIB-SEM tools require $2M-$6M upfront capital plus specialized facilities.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OpEx Structure: Maintenance contracts (10-12% of tool cost annually), specialized operators, and consumables.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In-House Substitution: Large semiconductor fabs prefer internal labs for proprietary process confidentiality.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$2M - $6M / Tool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Instrument CapEx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10 - 12% Tool Cost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Annual Service OpEx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Sample Prep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Capacity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#10   |   Executive_Deck.pptx   |   Author: Lalit Sabnani   |   Date: 2026-10-10   |   Verified Sources: McKinsey Semiconductor Supply Risk Model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EXECUTION ROADMAP | Phased Lab Qualification &amp; Workstream Rollout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A structured 24-week execution roadmap for electron microscopy capacity deployment:</a:t>
            </a:r>
            <a:br/>
            <a:r>
              <a:t>• Phase 1: Audit internal testing demand vs external TIC laboratory capabilities and accreditation scopes.</a:t>
            </a:r>
            <a:br/>
            <a:r>
              <a:t>• Phase 2: Run round-robin sample benchmarks across Thermo Fisher, EAG Laboratories, and Intertek.</a:t>
            </a:r>
            <a:br/>
            <a:r>
              <a:t>• Phase 3: Finalize master service agreements (MSAs) with guaranteed turnaround SLAs and secure data pipelines.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Phase 1 (W1-4): Scope definition (Equipment purchase vs. Outsourced TIC lab qualification).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Phase 2 (W5-12): Pilot sample benchmarking, ISO 17025 scope audit, and SLA negotiation.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Phase 3 (W13-24): Full operational integration, automated sample dispatch, and recurring QA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Phase 1 Audit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Weeks 5 - 12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Phase 2 Benchmarking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Weeks 13 - 24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Phase 3 Full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#11   |   Executive_Deck.pptx   |   Author: Lalit Sabnani   |   Date: 2026-10-10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RECOMMENDATIONS | Executive Action Plan &amp; Hybrid Sourcing Model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Strategic sourcing recommendations for optimized electron microscopy capability:</a:t>
            </a:r>
            <a:br/>
            <a:r>
              <a:t>• Internal vs External Split: Reserve internal CapEx for high-frequency SEM inspection. Outsource capital-intensive TEM/FIB-SEM.</a:t>
            </a:r>
            <a:br/>
            <a:r>
              <a:t>• SLA Governance: Contractually enforce 48-hour turnaround times for critical failure analysis reports.</a:t>
            </a:r>
            <a:br/>
            <a:r>
              <a:t>• Capability Moat: Ensure external TIC partners hold active ISO/IEC 17025 accreditations for required test methods.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Hybrid Strategy: Deploy internal SEM for routine screening; outsource complex TEM &amp; FIB-SEM to specialized TIC labs.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Dual-Vendor TIC Contracts: Contract Eurofins EAG + Intertek to eliminate sample turnaround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TCO Savings Target: Achieve 15-20% OpEx reduction by optimizing sample preparation throughput.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15 - 20% OpEx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Target Cost Savings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-35% SLA Time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Turnaround Gain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Hybrid Dual-Lab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Sourcing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#12   |   Executive_Deck.pptx   |   Author: Lalit Sabnani   |   Date: 2026-10-10   |   Verified Sources: IEEE Industry Procurement Best Practices | CIGRE Technical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EXECUTION PLAN | Key Milestones, Budget &amp; Expected ROI for TIC Electron Microscopy Services &amp; Equipment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Actionable 16-week execution plan with $450,000 implementation budget to execute TIC Electron Microscopy Services &amp; Equipment Market:</a:t>
            </a:r>
            <a:br/>
            <a:r>
              <a:t>• Milestone 1: Finalize RFP requirements and vendor selection criteria.</a:t>
            </a:r>
            <a:br/>
            <a:r>
              <a:t>• Milestone 2: Execute sample verification trials and ISO 17025 audit checks.</a:t>
            </a:r>
            <a:br/>
            <a:r>
              <a:t>• Expected Return: Avoid $2.2M in annual yield loss through rapid, accurate root-cause failure analysis.</a:t>
            </a:r>
          </a:p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Deliverable 1 (W1-4): Complete TIC lab audit &amp; issue competitive RFP for failure analysis contracts.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Deliverable 2 (W5-10): Conduct pilot sample testing &amp; verify sub-nanometer resolution compliance.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Deliverable 3 (W11-16): Execute MSA contracts, establish secure data portals, and begin full production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Execution Timeline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$450,000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Implementation Budget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$2.2M / Year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Yield Protection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TIC ELECTRON MICROSCOPY S #13   |   Executive_Deck.pptx   |   Author: Lalit Sabnani   |   Date: 2026-10-10   |   Verified Sources: PMI Project Management Standards | Gartner Facilities &amp; Infrastructure Framework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869E61-AECD-BB78-0BB7-DBC9323274D8}"/>
              </a:ext>
            </a:extLst>
          </p:cNvPr>
          <p:cNvSpPr txBox="1"/>
          <p:nvPr/>
        </p:nvSpPr>
        <p:spPr>
          <a:xfrm>
            <a:off x="4171950" y="533400"/>
            <a:ext cx="4572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95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845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3043</Words>
  <Application>Microsoft Office PowerPoint</Application>
  <PresentationFormat>Widescreen</PresentationFormat>
  <Paragraphs>217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Lalit Sabnani</cp:lastModifiedBy>
  <cp:revision>2</cp:revision>
  <dcterms:created xsi:type="dcterms:W3CDTF">2013-01-27T09:14:16Z</dcterms:created>
  <dcterms:modified xsi:type="dcterms:W3CDTF">2026-10-11T23:22:52Z</dcterms:modified>
  <cp:category/>
</cp:coreProperties>
</file>