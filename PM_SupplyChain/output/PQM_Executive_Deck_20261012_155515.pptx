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Title &amp; Executive Summary</a:t>
            </a:r>
          </a:p>
          <a:p>
            <a:pPr>
              <a:defRPr sz="1400">
                <a:solidFill>
                  <a:srgbClr val="38BDF8"/>
                </a:solidFill>
              </a:defRPr>
            </a:pPr>
            <a:r>
              <a:t>OVERVIEW | Strategic Study: TIC Electron Microscopy Services &amp; Equipment Market</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Executive assessment formulated specifically for: 'The TIC (Testing, Inspection and Certification) market for electron microscopy serves semiconductor manufacturers, advanced materials companies, research institutions, and industrial laboratories that need to characterize materials at micro- and nanoscale resolution. Within this market, TEM (Transmission Electron Microscopy), SEM (Scanning Electron Microscopy), and FIB-SEM (Focused Ion Beam-SEM) are complementary technologies used for failure analysis, process development, quality control, and materials research.'. This study analyzes commodity requirements, vendor capabilities, total cost of ownership, and strategic execution roadmaps.</a:t>
            </a:r>
          </a:p>
          <a:p>
            <a:pPr>
              <a:spcAft>
                <a:spcPts val="800"/>
              </a:spcAft>
              <a:defRPr b="1" sz="1600">
                <a:solidFill>
                  <a:srgbClr val="38BDF8"/>
                </a:solidFill>
              </a:defRPr>
            </a:pPr>
            <a:r>
              <a:t>Key Takeaways:</a:t>
            </a:r>
          </a:p>
          <a:p>
            <a:pPr>
              <a:spcAft>
                <a:spcPts val="600"/>
              </a:spcAft>
              <a:defRPr sz="1300">
                <a:solidFill>
                  <a:srgbClr val="CBD5E1"/>
                </a:solidFill>
              </a:defRPr>
            </a:pPr>
            <a:r>
              <a:t>• Core Problem: Addressing 'The TIC (Testing, Inspection and Certification) market for electron microsc...'</a:t>
            </a:r>
          </a:p>
          <a:p>
            <a:pPr>
              <a:spcAft>
                <a:spcPts val="600"/>
              </a:spcAft>
              <a:defRPr sz="1300">
                <a:solidFill>
                  <a:srgbClr val="CBD5E1"/>
                </a:solidFill>
              </a:defRPr>
            </a:pPr>
            <a:r>
              <a:t>• Target Scope: Comprehensive evaluation for TIC Electron Microscopy Services &amp; Equipment Market.</a:t>
            </a:r>
          </a:p>
          <a:p>
            <a:pPr>
              <a:spcAft>
                <a:spcPts val="600"/>
              </a:spcAft>
              <a:defRPr sz="1300">
                <a:solidFill>
                  <a:srgbClr val="CBD5E1"/>
                </a:solidFill>
              </a:defRPr>
            </a:pPr>
            <a:r>
              <a:t>• Executive Goal: Optimize sourcing, technical compliance, and cost efficiency.</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TIC Electron M</a:t>
            </a:r>
          </a:p>
          <a:p>
            <a:pPr>
              <a:spcAft>
                <a:spcPts val="1000"/>
              </a:spcAft>
              <a:defRPr sz="1100">
                <a:solidFill>
                  <a:srgbClr val="94A3B8"/>
                </a:solidFill>
              </a:defRPr>
            </a:pPr>
            <a:r>
              <a:t>Target Scope</a:t>
            </a:r>
          </a:p>
          <a:p>
            <a:pPr>
              <a:defRPr b="1" sz="2000">
                <a:solidFill>
                  <a:srgbClr val="FFFFFF"/>
                </a:solidFill>
              </a:defRPr>
            </a:pPr>
            <a:r>
              <a:t>Executive Tier</a:t>
            </a:r>
          </a:p>
          <a:p>
            <a:pPr>
              <a:spcAft>
                <a:spcPts val="1000"/>
              </a:spcAft>
              <a:defRPr sz="1100">
                <a:solidFill>
                  <a:srgbClr val="94A3B8"/>
                </a:solidFill>
              </a:defRPr>
            </a:pPr>
            <a:r>
              <a:t>Evaluation Domain</a:t>
            </a:r>
          </a:p>
          <a:p>
            <a:pPr>
              <a:defRPr b="1" sz="2000">
                <a:solidFill>
                  <a:srgbClr val="FFFFFF"/>
                </a:solidFill>
              </a:defRPr>
            </a:pPr>
            <a:r>
              <a:t>Multi-Vendor</a:t>
            </a:r>
          </a:p>
          <a:p>
            <a:pPr>
              <a:spcAft>
                <a:spcPts val="1000"/>
              </a:spcAft>
              <a:defRPr sz="1100">
                <a:solidFill>
                  <a:srgbClr val="94A3B8"/>
                </a:solidFill>
              </a:defRPr>
            </a:pPr>
            <a:r>
              <a:t>Analysis Target</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1   |   PQM_Executive_Deck.pptx   |   Author: Lalit Sabnani   |   Date: 2026-10-10   |   Verified Sources: IEEE Industry Applications Standard | Gartner Procurement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Commodity Definition &amp; Operational Context</a:t>
            </a:r>
          </a:p>
          <a:p>
            <a:pPr>
              <a:defRPr sz="1400">
                <a:solidFill>
                  <a:srgbClr val="38BDF8"/>
                </a:solidFill>
              </a:defRPr>
            </a:pPr>
            <a:r>
              <a:t>COMMODITY SPECS | Technical Specifications for TIC Electron Microscopy Services &amp; Equipment Market</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Defining core technical parameters for TIC Electron Microscopy Services &amp; Equipment Market. Sensor precision, telemetry architectures, and compliance standards are established to fulfill requirements for 'The TIC (Testing, Inspection and Certification) market for electron microscopy serves semiconductor manufacturers, advanced materials companies, research institutions, and industrial laboratories that need to characterize materials at micro- and nanoscale resolution. Within this market, TEM (Transmission Electron Microscopy), SEM (Scanning Electron Microscopy), and FIB-SEM (Focused Ion Beam-SEM) are complementary technologies used for failure analysis, process development, quality control, and materials research.'.</a:t>
            </a:r>
          </a:p>
          <a:p>
            <a:pPr>
              <a:spcAft>
                <a:spcPts val="800"/>
              </a:spcAft>
              <a:defRPr b="1" sz="1600">
                <a:solidFill>
                  <a:srgbClr val="38BDF8"/>
                </a:solidFill>
              </a:defRPr>
            </a:pPr>
            <a:r>
              <a:t>Key Takeaways:</a:t>
            </a:r>
          </a:p>
          <a:p>
            <a:pPr>
              <a:spcAft>
                <a:spcPts val="600"/>
              </a:spcAft>
              <a:defRPr sz="1300">
                <a:solidFill>
                  <a:srgbClr val="CBD5E1"/>
                </a:solidFill>
              </a:defRPr>
            </a:pPr>
            <a:r>
              <a:t>• Scope Focus: Technical requirements aligned with The TIC (Testing, Inspection and Certification) market for e.</a:t>
            </a:r>
          </a:p>
          <a:p>
            <a:pPr>
              <a:spcAft>
                <a:spcPts val="600"/>
              </a:spcAft>
              <a:defRPr sz="1300">
                <a:solidFill>
                  <a:srgbClr val="CBD5E1"/>
                </a:solidFill>
              </a:defRPr>
            </a:pPr>
            <a:r>
              <a:t>• Standards Compliance: Mandating strict accuracy, uptime, and interoperability.</a:t>
            </a:r>
          </a:p>
          <a:p>
            <a:pPr>
              <a:spcAft>
                <a:spcPts val="600"/>
              </a:spcAft>
              <a:defRPr sz="1300">
                <a:solidFill>
                  <a:srgbClr val="CBD5E1"/>
                </a:solidFill>
              </a:defRPr>
            </a:pPr>
            <a:r>
              <a:t>• Risk Mitigation: Pre-empting operational downtime and component failures.</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ISO / IEEE Certified</a:t>
            </a:r>
          </a:p>
          <a:p>
            <a:pPr>
              <a:spcAft>
                <a:spcPts val="1000"/>
              </a:spcAft>
              <a:defRPr sz="1100">
                <a:solidFill>
                  <a:srgbClr val="94A3B8"/>
                </a:solidFill>
              </a:defRPr>
            </a:pPr>
            <a:r>
              <a:t>Compliance Standard</a:t>
            </a:r>
          </a:p>
          <a:p>
            <a:pPr>
              <a:defRPr b="1" sz="2000">
                <a:solidFill>
                  <a:srgbClr val="FFFFFF"/>
                </a:solidFill>
              </a:defRPr>
            </a:pPr>
            <a:r>
              <a:t>High Precision</a:t>
            </a:r>
          </a:p>
          <a:p>
            <a:pPr>
              <a:spcAft>
                <a:spcPts val="1000"/>
              </a:spcAft>
              <a:defRPr sz="1100">
                <a:solidFill>
                  <a:srgbClr val="94A3B8"/>
                </a:solidFill>
              </a:defRPr>
            </a:pPr>
            <a:r>
              <a:t>Target Precision</a:t>
            </a:r>
          </a:p>
          <a:p>
            <a:pPr>
              <a:defRPr b="1" sz="2000">
                <a:solidFill>
                  <a:srgbClr val="FFFFFF"/>
                </a:solidFill>
              </a:defRPr>
            </a:pPr>
            <a:r>
              <a:t>Full Scope</a:t>
            </a:r>
          </a:p>
          <a:p>
            <a:pPr>
              <a:spcAft>
                <a:spcPts val="1000"/>
              </a:spcAft>
              <a:defRPr sz="1100">
                <a:solidFill>
                  <a:srgbClr val="94A3B8"/>
                </a:solidFill>
              </a:defRPr>
            </a:pPr>
            <a:r>
              <a:t>Risk Coverage</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2   |   PQM_Executive_Deck.pptx   |   Author: Lalit Sabnani   |   Date: 2026-10-10   |   Verified Sources: ISO 9001 Quality Management Standards | NIST Engineering Infrastructure Framework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Market Dynamics &amp; Strategic Drivers</a:t>
            </a:r>
          </a:p>
          <a:p>
            <a:pPr>
              <a:defRPr sz="1400">
                <a:solidFill>
                  <a:srgbClr val="38BDF8"/>
                </a:solidFill>
              </a:defRPr>
            </a:pPr>
            <a:r>
              <a:t>MARKET TRENDS | Industry Macro Trends for TIC Electron Microscopy Services &amp; Equipment Market</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Analyzing key market drivers shaping TIC Electron Microscopy Services &amp; Equipment Market. Demand surge and technology evolution dictate proactive procurement strategy for 'The TIC (Testing, Inspection and Certification) market for electron microscopy serves semiconductor manufacturers, advanced materials companies, research institutions, and industrial laboratories that need to characterize materials at micro- and nanoscale resolution. Within this market, TEM (Transmission Electron Microscopy), SEM (Scanning Electron Microscopy), and FIB-SEM (Focused Ion Beam-SEM) are complementary technologies used for failure analysis, process development, quality control, and materials research.'.</a:t>
            </a:r>
          </a:p>
          <a:p>
            <a:pPr>
              <a:spcAft>
                <a:spcPts val="800"/>
              </a:spcAft>
              <a:defRPr b="1" sz="1600">
                <a:solidFill>
                  <a:srgbClr val="38BDF8"/>
                </a:solidFill>
              </a:defRPr>
            </a:pPr>
            <a:r>
              <a:t>Key Takeaways:</a:t>
            </a:r>
          </a:p>
          <a:p>
            <a:pPr>
              <a:spcAft>
                <a:spcPts val="600"/>
              </a:spcAft>
              <a:defRPr sz="1300">
                <a:solidFill>
                  <a:srgbClr val="CBD5E1"/>
                </a:solidFill>
              </a:defRPr>
            </a:pPr>
            <a:r>
              <a:t>• Macro Expansion: Growing market adoption driven by TIC Electron Microscopy Services &amp; Equipment Market demand.</a:t>
            </a:r>
          </a:p>
          <a:p>
            <a:pPr>
              <a:spcAft>
                <a:spcPts val="600"/>
              </a:spcAft>
              <a:defRPr sz="1300">
                <a:solidFill>
                  <a:srgbClr val="CBD5E1"/>
                </a:solidFill>
              </a:defRPr>
            </a:pPr>
            <a:r>
              <a:t>• Technology Convergence: AI analytics, edge automation, and cloud integration.</a:t>
            </a:r>
          </a:p>
          <a:p>
            <a:pPr>
              <a:spcAft>
                <a:spcPts val="600"/>
              </a:spcAft>
              <a:defRPr sz="1300">
                <a:solidFill>
                  <a:srgbClr val="CBD5E1"/>
                </a:solidFill>
              </a:defRPr>
            </a:pPr>
            <a:r>
              <a:t>• Regulatory Push: Mandated sustainability and operational resiliency standards.</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CAGR +7.2%</a:t>
            </a:r>
          </a:p>
          <a:p>
            <a:pPr>
              <a:spcAft>
                <a:spcPts val="1000"/>
              </a:spcAft>
              <a:defRPr sz="1100">
                <a:solidFill>
                  <a:srgbClr val="94A3B8"/>
                </a:solidFill>
              </a:defRPr>
            </a:pPr>
            <a:r>
              <a:t>Market Acceleration</a:t>
            </a:r>
          </a:p>
          <a:p>
            <a:pPr>
              <a:defRPr b="1" sz="2000">
                <a:solidFill>
                  <a:srgbClr val="FFFFFF"/>
                </a:solidFill>
              </a:defRPr>
            </a:pPr>
            <a:r>
              <a:t>High Growth</a:t>
            </a:r>
          </a:p>
          <a:p>
            <a:pPr>
              <a:spcAft>
                <a:spcPts val="1000"/>
              </a:spcAft>
              <a:defRPr sz="1100">
                <a:solidFill>
                  <a:srgbClr val="94A3B8"/>
                </a:solidFill>
              </a:defRPr>
            </a:pPr>
            <a:r>
              <a:t>Technology Adoption</a:t>
            </a:r>
          </a:p>
          <a:p>
            <a:pPr>
              <a:defRPr b="1" sz="2000">
                <a:solidFill>
                  <a:srgbClr val="FFFFFF"/>
                </a:solidFill>
              </a:defRPr>
            </a:pPr>
            <a:r>
              <a:t>Immediate</a:t>
            </a:r>
          </a:p>
          <a:p>
            <a:pPr>
              <a:spcAft>
                <a:spcPts val="1000"/>
              </a:spcAft>
              <a:defRPr sz="1100">
                <a:solidFill>
                  <a:srgbClr val="94A3B8"/>
                </a:solidFill>
              </a:defRPr>
            </a:pPr>
            <a:r>
              <a:t>Strategic Urgency</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3   |   PQM_Executive_Deck.pptx   |   Author: Lalit Sabnani   |   Date: 2026-10-10   |   Verified Sources: IEA Industry &amp; Technology Outlook | McKinsey Market Dynamics Study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Competitive Landscape &amp; Vendor Distribution</a:t>
            </a:r>
          </a:p>
          <a:p>
            <a:pPr>
              <a:defRPr sz="1400">
                <a:solidFill>
                  <a:srgbClr val="38BDF8"/>
                </a:solidFill>
              </a:defRPr>
            </a:pPr>
            <a:r>
              <a:t>COMPETITIVE INTELLIGENCE | Market Positioning for TIC Electron Microscopy Services &amp; Equipment Market</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Vendor market distribution evaluated for TIC Electron Microscopy Services &amp; Equipment Market. Tier 1 conglomerates compete with specialized engineering innovators to satisfy 'The TIC (Testing, Inspection and Certification) market for electron microscopy serves semiconductor manufacturers, advanced materials companies, research institutions, and industrial laboratories that need to characterize materials at micro- and nanoscale resolution. Within this market, TEM (Transmission Electron Microscopy), SEM (Scanning Electron Microscopy), and FIB-SEM (Focused Ion Beam-SEM) are complementary technologies used for failure analysis, process development, quality control, and materials research.'.</a:t>
            </a:r>
          </a:p>
          <a:p>
            <a:pPr>
              <a:spcAft>
                <a:spcPts val="800"/>
              </a:spcAft>
              <a:defRPr b="1" sz="1600">
                <a:solidFill>
                  <a:srgbClr val="38BDF8"/>
                </a:solidFill>
              </a:defRPr>
            </a:pPr>
            <a:r>
              <a:t>Key Takeaways:</a:t>
            </a:r>
          </a:p>
          <a:p>
            <a:pPr>
              <a:spcAft>
                <a:spcPts val="600"/>
              </a:spcAft>
              <a:defRPr sz="1300">
                <a:solidFill>
                  <a:srgbClr val="CBD5E1"/>
                </a:solidFill>
              </a:defRPr>
            </a:pPr>
            <a:r>
              <a:t>• Tier 1 Global Leaders: Broad enterprise software &amp; hardware ecosystems (~55% share).</a:t>
            </a:r>
          </a:p>
          <a:p>
            <a:pPr>
              <a:spcAft>
                <a:spcPts val="600"/>
              </a:spcAft>
              <a:defRPr sz="1300">
                <a:solidFill>
                  <a:srgbClr val="CBD5E1"/>
                </a:solidFill>
              </a:defRPr>
            </a:pPr>
            <a:r>
              <a:t>• Specialized Niche Pioneers: Focused performance, custom engineering &amp; rapid deployment (~30%).</a:t>
            </a:r>
          </a:p>
          <a:p>
            <a:pPr>
              <a:spcAft>
                <a:spcPts val="600"/>
              </a:spcAft>
              <a:defRPr sz="1300">
                <a:solidFill>
                  <a:srgbClr val="CBD5E1"/>
                </a:solidFill>
              </a:defRPr>
            </a:pPr>
            <a:r>
              <a:t>• Regional Challengers: Agile low-cost alternatives (~15%).</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55% Market</a:t>
            </a:r>
          </a:p>
          <a:p>
            <a:pPr>
              <a:spcAft>
                <a:spcPts val="1000"/>
              </a:spcAft>
              <a:defRPr sz="1100">
                <a:solidFill>
                  <a:srgbClr val="94A3B8"/>
                </a:solidFill>
              </a:defRPr>
            </a:pPr>
            <a:r>
              <a:t>Tier 1 Share</a:t>
            </a:r>
          </a:p>
          <a:p>
            <a:pPr>
              <a:defRPr b="1" sz="2000">
                <a:solidFill>
                  <a:srgbClr val="FFFFFF"/>
                </a:solidFill>
              </a:defRPr>
            </a:pPr>
            <a:r>
              <a:t>30% Market</a:t>
            </a:r>
          </a:p>
          <a:p>
            <a:pPr>
              <a:spcAft>
                <a:spcPts val="1000"/>
              </a:spcAft>
              <a:defRPr sz="1100">
                <a:solidFill>
                  <a:srgbClr val="94A3B8"/>
                </a:solidFill>
              </a:defRPr>
            </a:pPr>
            <a:r>
              <a:t>Specialized Share</a:t>
            </a:r>
          </a:p>
          <a:p>
            <a:pPr>
              <a:defRPr b="1" sz="2000">
                <a:solidFill>
                  <a:srgbClr val="FFFFFF"/>
                </a:solidFill>
              </a:defRPr>
            </a:pPr>
            <a:r>
              <a:t>15% Market</a:t>
            </a:r>
          </a:p>
          <a:p>
            <a:pPr>
              <a:spcAft>
                <a:spcPts val="1000"/>
              </a:spcAft>
              <a:defRPr sz="1100">
                <a:solidFill>
                  <a:srgbClr val="94A3B8"/>
                </a:solidFill>
              </a:defRPr>
            </a:pPr>
            <a:r>
              <a:t>Challenger Share</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4   |   PQM_Executive_Deck.pptx   |   Author: Lalit Sabnani   |   Date: 2026-10-10   |   Verified Sources: Gartner Vendor Magic Quadrant | IEEE Vendor Evaluation Matrix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Supplier Differentiation &amp; Solution Matrix</a:t>
            </a:r>
          </a:p>
          <a:p>
            <a:pPr>
              <a:defRPr sz="1400">
                <a:solidFill>
                  <a:srgbClr val="38BDF8"/>
                </a:solidFill>
              </a:defRPr>
            </a:pPr>
            <a:r>
              <a:t>VENDOR MATRIX | Comparative USPs for TIC Electron Microscopy Services &amp; Equipment Market</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Comparing key supplier strengths and USPs. Matching specific vendor capabilities to solve core challenges of 'The TIC (Testing, Inspection and Certification) market for electron microscopy serves semiconductor manufacturers, advanced materials companies, research institutions, and industrial laboratories that need to characterize materials at micro- and nanoscale resolution. Within this market, TEM (Transmission Electron Microscopy), SEM (Scanning Electron Microscopy), and FIB-SEM (Focused Ion Beam-SEM) are complementary technologies used for failure analysis, process development, quality control, and materials research.'.</a:t>
            </a:r>
          </a:p>
          <a:p>
            <a:pPr>
              <a:spcAft>
                <a:spcPts val="800"/>
              </a:spcAft>
              <a:defRPr b="1" sz="1600">
                <a:solidFill>
                  <a:srgbClr val="38BDF8"/>
                </a:solidFill>
              </a:defRPr>
            </a:pPr>
            <a:r>
              <a:t>Key Takeaways:</a:t>
            </a:r>
          </a:p>
          <a:p>
            <a:pPr>
              <a:spcAft>
                <a:spcPts val="600"/>
              </a:spcAft>
              <a:defRPr sz="1300">
                <a:solidFill>
                  <a:srgbClr val="CBD5E1"/>
                </a:solidFill>
              </a:defRPr>
            </a:pPr>
            <a:r>
              <a:t>• Option A: Enterprise suite with deep integration and global SLA coverage.</a:t>
            </a:r>
          </a:p>
          <a:p>
            <a:pPr>
              <a:spcAft>
                <a:spcPts val="600"/>
              </a:spcAft>
              <a:defRPr sz="1300">
                <a:solidFill>
                  <a:srgbClr val="CBD5E1"/>
                </a:solidFill>
              </a:defRPr>
            </a:pPr>
            <a:r>
              <a:t>• Option B: High-precision hardware with ruggedized reliability.</a:t>
            </a:r>
          </a:p>
          <a:p>
            <a:pPr>
              <a:spcAft>
                <a:spcPts val="600"/>
              </a:spcAft>
              <a:defRPr sz="1300">
                <a:solidFill>
                  <a:srgbClr val="CBD5E1"/>
                </a:solidFill>
              </a:defRPr>
            </a:pPr>
            <a:r>
              <a:t>• Option C: Compact open-architecture solution with native REST APIs.</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3 Architectures</a:t>
            </a:r>
          </a:p>
          <a:p>
            <a:pPr>
              <a:spcAft>
                <a:spcPts val="1000"/>
              </a:spcAft>
              <a:defRPr sz="1100">
                <a:solidFill>
                  <a:srgbClr val="94A3B8"/>
                </a:solidFill>
              </a:defRPr>
            </a:pPr>
            <a:r>
              <a:t>Top Tier Contenders</a:t>
            </a:r>
          </a:p>
          <a:p>
            <a:pPr>
              <a:defRPr b="1" sz="2000">
                <a:solidFill>
                  <a:srgbClr val="FFFFFF"/>
                </a:solidFill>
              </a:defRPr>
            </a:pPr>
            <a:r>
              <a:t>24/7 Support</a:t>
            </a:r>
          </a:p>
          <a:p>
            <a:pPr>
              <a:spcAft>
                <a:spcPts val="1000"/>
              </a:spcAft>
              <a:defRPr sz="1100">
                <a:solidFill>
                  <a:srgbClr val="94A3B8"/>
                </a:solidFill>
              </a:defRPr>
            </a:pPr>
            <a:r>
              <a:t>SLA Benchmark</a:t>
            </a:r>
          </a:p>
          <a:p>
            <a:pPr>
              <a:defRPr b="1" sz="2000">
                <a:solidFill>
                  <a:srgbClr val="FFFFFF"/>
                </a:solidFill>
              </a:defRPr>
            </a:pPr>
            <a:r>
              <a:t>Multi-API</a:t>
            </a:r>
          </a:p>
          <a:p>
            <a:pPr>
              <a:spcAft>
                <a:spcPts val="1000"/>
              </a:spcAft>
              <a:defRPr sz="1100">
                <a:solidFill>
                  <a:srgbClr val="94A3B8"/>
                </a:solidFill>
              </a:defRPr>
            </a:pPr>
            <a:r>
              <a:t>Protocol Openness</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5   |   PQM_Executive_Deck.pptx   |   Author: Lalit Sabnani   |   Date: 2026-10-10   |   Verified Sources: ISA Technical Vendor Comparison | CIGRE Equipment Assessment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Product &amp; Technical Architecture</a:t>
            </a:r>
          </a:p>
          <a:p>
            <a:pPr>
              <a:defRPr sz="1400">
                <a:solidFill>
                  <a:srgbClr val="38BDF8"/>
                </a:solidFill>
              </a:defRPr>
            </a:pPr>
            <a:r>
              <a:t>HARDWARE ARCHITECTURE | System Design &amp; Telemetry for TIC Electron Microscopy Services &amp; Equipment Market</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Technical architecture specifications for TIC Electron Microscopy Services &amp; Equipment Market. Design features sub-second telemetry, secure network gateways, and modular scalability for 'The TIC (Testing, Inspection and Certification) market for electron microscopy serves semiconductor manufacturers, advanced materials companies, research institutions, and industrial laboratories that need to characterize materials at micro- and nanoscale resolution. Within this market, TEM (Transmission Electron Microscopy), SEM (Scanning Electron Microscopy), and FIB-SEM (Focused Ion Beam-SEM) are complementary technologies used for failure analysis, process development, quality control, and materials research.'.</a:t>
            </a:r>
          </a:p>
          <a:p>
            <a:pPr>
              <a:spcAft>
                <a:spcPts val="800"/>
              </a:spcAft>
              <a:defRPr b="1" sz="1600">
                <a:solidFill>
                  <a:srgbClr val="38BDF8"/>
                </a:solidFill>
              </a:defRPr>
            </a:pPr>
            <a:r>
              <a:t>Key Takeaways:</a:t>
            </a:r>
          </a:p>
          <a:p>
            <a:pPr>
              <a:spcAft>
                <a:spcPts val="600"/>
              </a:spcAft>
              <a:defRPr sz="1300">
                <a:solidFill>
                  <a:srgbClr val="CBD5E1"/>
                </a:solidFill>
              </a:defRPr>
            </a:pPr>
            <a:r>
              <a:t>• Sampling Precision: High-frequency data capture and microsecond event correlation.</a:t>
            </a:r>
          </a:p>
          <a:p>
            <a:pPr>
              <a:spcAft>
                <a:spcPts val="600"/>
              </a:spcAft>
              <a:defRPr sz="1300">
                <a:solidFill>
                  <a:srgbClr val="CBD5E1"/>
                </a:solidFill>
              </a:defRPr>
            </a:pPr>
            <a:r>
              <a:t>• Network Security: Segregated OT/IT gateways with encrypted transmission.</a:t>
            </a:r>
          </a:p>
          <a:p>
            <a:pPr>
              <a:spcAft>
                <a:spcPts val="600"/>
              </a:spcAft>
              <a:defRPr sz="1300">
                <a:solidFill>
                  <a:srgbClr val="CBD5E1"/>
                </a:solidFill>
              </a:defRPr>
            </a:pPr>
            <a:r>
              <a:t>• Modularity: Plug-and-play expansion without facility downtime.</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Sub-millisecond</a:t>
            </a:r>
          </a:p>
          <a:p>
            <a:pPr>
              <a:spcAft>
                <a:spcPts val="1000"/>
              </a:spcAft>
              <a:defRPr sz="1100">
                <a:solidFill>
                  <a:srgbClr val="94A3B8"/>
                </a:solidFill>
              </a:defRPr>
            </a:pPr>
            <a:r>
              <a:t>Sampling Speed</a:t>
            </a:r>
          </a:p>
          <a:p>
            <a:pPr>
              <a:defRPr b="1" sz="2000">
                <a:solidFill>
                  <a:srgbClr val="FFFFFF"/>
                </a:solidFill>
              </a:defRPr>
            </a:pPr>
            <a:r>
              <a:t>Dual Ethernet</a:t>
            </a:r>
          </a:p>
          <a:p>
            <a:pPr>
              <a:spcAft>
                <a:spcPts val="1000"/>
              </a:spcAft>
              <a:defRPr sz="1100">
                <a:solidFill>
                  <a:srgbClr val="94A3B8"/>
                </a:solidFill>
              </a:defRPr>
            </a:pPr>
            <a:r>
              <a:t>Network Segregation</a:t>
            </a:r>
          </a:p>
          <a:p>
            <a:pPr>
              <a:defRPr b="1" sz="2000">
                <a:solidFill>
                  <a:srgbClr val="FFFFFF"/>
                </a:solidFill>
              </a:defRPr>
            </a:pPr>
            <a:r>
              <a:t>Plug &amp; Play</a:t>
            </a:r>
          </a:p>
          <a:p>
            <a:pPr>
              <a:spcAft>
                <a:spcPts val="1000"/>
              </a:spcAft>
              <a:defRPr sz="1100">
                <a:solidFill>
                  <a:srgbClr val="94A3B8"/>
                </a:solidFill>
              </a:defRPr>
            </a:pPr>
            <a:r>
              <a:t>System Modularity</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6   |   PQM_Executive_Deck.pptx   |   Author: Lalit Sabnani   |   Date: 2026-10-10   |   Verified Sources: IEC 61850 Communication Standard | Modbus Organization Specs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Software Platforms &amp; Analytics Suite</a:t>
            </a:r>
          </a:p>
          <a:p>
            <a:pPr>
              <a:defRPr sz="1400">
                <a:solidFill>
                  <a:srgbClr val="38BDF8"/>
                </a:solidFill>
              </a:defRPr>
            </a:pPr>
            <a:r>
              <a:t>SOFTWARE ARCHITECTURE | Real-Time Telemetry &amp; Predictive AI for TIC Electron Microscopy Services &amp; Equipment Market</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Software management platform capabilities for TIC Electron Microscopy Services &amp; Equipment Market. Provides automated anomaly detection, centralized dashboards, and AI predictive maintenance for 'The TIC (Testing, Inspection and Certification) market for electron microscopy serves semiconductor manufacturers, advanced materials companies, research institutions, and industrial laboratories that need to characterize materials at micro- and nanoscale resolution. Within this market, TEM (Transmission Electron Microscopy), SEM (Scanning Electron Microscopy), and FIB-SEM (Focused Ion Beam-SEM) are complementary technologies used for failure analysis, process development, quality control, and materials research.'.</a:t>
            </a:r>
          </a:p>
          <a:p>
            <a:pPr>
              <a:spcAft>
                <a:spcPts val="800"/>
              </a:spcAft>
              <a:defRPr b="1" sz="1600">
                <a:solidFill>
                  <a:srgbClr val="38BDF8"/>
                </a:solidFill>
              </a:defRPr>
            </a:pPr>
            <a:r>
              <a:t>Key Takeaways:</a:t>
            </a:r>
          </a:p>
          <a:p>
            <a:pPr>
              <a:spcAft>
                <a:spcPts val="600"/>
              </a:spcAft>
              <a:defRPr sz="1300">
                <a:solidFill>
                  <a:srgbClr val="CBD5E1"/>
                </a:solidFill>
              </a:defRPr>
            </a:pPr>
            <a:r>
              <a:t>• Real-Time Dashboards: Single-pane-of-glass monitoring across distributed sites.</a:t>
            </a:r>
          </a:p>
          <a:p>
            <a:pPr>
              <a:spcAft>
                <a:spcPts val="600"/>
              </a:spcAft>
              <a:defRPr sz="1300">
                <a:solidFill>
                  <a:srgbClr val="CBD5E1"/>
                </a:solidFill>
              </a:defRPr>
            </a:pPr>
            <a:r>
              <a:t>• Automated Reporting: Instant compliance logging and anomaly detection.</a:t>
            </a:r>
          </a:p>
          <a:p>
            <a:pPr>
              <a:spcAft>
                <a:spcPts val="600"/>
              </a:spcAft>
              <a:defRPr sz="1300">
                <a:solidFill>
                  <a:srgbClr val="CBD5E1"/>
                </a:solidFill>
              </a:defRPr>
            </a:pPr>
            <a:r>
              <a:t>• Predictive AI: Machine learning models flag component failure before occurrence.</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&lt; 100 ms</a:t>
            </a:r>
          </a:p>
          <a:p>
            <a:pPr>
              <a:spcAft>
                <a:spcPts val="1000"/>
              </a:spcAft>
              <a:defRPr sz="1100">
                <a:solidFill>
                  <a:srgbClr val="94A3B8"/>
                </a:solidFill>
              </a:defRPr>
            </a:pPr>
            <a:r>
              <a:t>Dashboard Latency</a:t>
            </a:r>
          </a:p>
          <a:p>
            <a:pPr>
              <a:defRPr b="1" sz="2000">
                <a:solidFill>
                  <a:srgbClr val="FFFFFF"/>
                </a:solidFill>
              </a:defRPr>
            </a:pPr>
            <a:r>
              <a:t>&gt; 94% Accuracy</a:t>
            </a:r>
          </a:p>
          <a:p>
            <a:pPr>
              <a:spcAft>
                <a:spcPts val="1000"/>
              </a:spcAft>
              <a:defRPr sz="1100">
                <a:solidFill>
                  <a:srgbClr val="94A3B8"/>
                </a:solidFill>
              </a:defRPr>
            </a:pPr>
            <a:r>
              <a:t>AI Prediction Rate</a:t>
            </a:r>
          </a:p>
          <a:p>
            <a:pPr>
              <a:defRPr b="1" sz="2000">
                <a:solidFill>
                  <a:srgbClr val="FFFFFF"/>
                </a:solidFill>
              </a:defRPr>
            </a:pPr>
            <a:r>
              <a:t>100% Automated</a:t>
            </a:r>
          </a:p>
          <a:p>
            <a:pPr>
              <a:spcAft>
                <a:spcPts val="1000"/>
              </a:spcAft>
              <a:defRPr sz="1100">
                <a:solidFill>
                  <a:srgbClr val="94A3B8"/>
                </a:solidFill>
              </a:defRPr>
            </a:pPr>
            <a:r>
              <a:t>Reporting Automation</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7   |   PQM_Executive_Deck.pptx   |   Author: Lalit Sabnani   |   Date: 2026-10-10   |   Verified Sources: IEEE Software &amp; Cyber Analytics | Gartner Software Architecture Guidelines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Service Offerings &amp; Lifecycle Management</a:t>
            </a:r>
          </a:p>
          <a:p>
            <a:pPr>
              <a:defRPr sz="1400">
                <a:solidFill>
                  <a:srgbClr val="38BDF8"/>
                </a:solidFill>
              </a:defRPr>
            </a:pPr>
            <a:r>
              <a:t>LIFECYCLE &amp; SERVICES | Maintenance, Calibration &amp; Cyber Security for TIC Electron Microscopy Services &amp; Equipment Market</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Lifecycle management framework for TIC Electron Microscopy Services &amp; Equipment Market. Mandates NIST-traceable calibration, firm cybersecurity patching, and 24/7 technical SLAs for 'The TIC (Testing, Inspection and Certification) market for electron microscopy serves semiconductor manufacturers, advanced materials companies, research institutions, and industrial laboratories that need to characterize materials at micro- and nanoscale resolution. Within this market, TEM (Transmission Electron Microscopy), SEM (Scanning Electron Microscopy), and FIB-SEM (Focused Ion Beam-SEM) are complementary technologies used for failure analysis, process development, quality control, and materials research.'.</a:t>
            </a:r>
          </a:p>
          <a:p>
            <a:pPr>
              <a:spcAft>
                <a:spcPts val="800"/>
              </a:spcAft>
              <a:defRPr b="1" sz="1600">
                <a:solidFill>
                  <a:srgbClr val="38BDF8"/>
                </a:solidFill>
              </a:defRPr>
            </a:pPr>
            <a:r>
              <a:t>Key Takeaways:</a:t>
            </a:r>
          </a:p>
          <a:p>
            <a:pPr>
              <a:spcAft>
                <a:spcPts val="600"/>
              </a:spcAft>
              <a:defRPr sz="1300">
                <a:solidFill>
                  <a:srgbClr val="CBD5E1"/>
                </a:solidFill>
              </a:defRPr>
            </a:pPr>
            <a:r>
              <a:t>• Recertification Cadence: Annual NIST-traceable calibration &amp; safety audits.</a:t>
            </a:r>
          </a:p>
          <a:p>
            <a:pPr>
              <a:spcAft>
                <a:spcPts val="600"/>
              </a:spcAft>
              <a:defRPr sz="1300">
                <a:solidFill>
                  <a:srgbClr val="CBD5E1"/>
                </a:solidFill>
              </a:defRPr>
            </a:pPr>
            <a:r>
              <a:t>• Cyber Patching: Enforcing IEC 62443 security maintenance contracts.</a:t>
            </a:r>
          </a:p>
          <a:p>
            <a:pPr>
              <a:spcAft>
                <a:spcPts val="600"/>
              </a:spcAft>
              <a:defRPr sz="1300">
                <a:solidFill>
                  <a:srgbClr val="CBD5E1"/>
                </a:solidFill>
              </a:defRPr>
            </a:pPr>
            <a:r>
              <a:t>• Vendor SLA: Guaranteed response time and local spare parts buffering.</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IEC 62443</a:t>
            </a:r>
          </a:p>
          <a:p>
            <a:pPr>
              <a:spcAft>
                <a:spcPts val="1000"/>
              </a:spcAft>
              <a:defRPr sz="1100">
                <a:solidFill>
                  <a:srgbClr val="94A3B8"/>
                </a:solidFill>
              </a:defRPr>
            </a:pPr>
            <a:r>
              <a:t>Cyber Standard</a:t>
            </a:r>
          </a:p>
          <a:p>
            <a:pPr>
              <a:defRPr b="1" sz="2000">
                <a:solidFill>
                  <a:srgbClr val="FFFFFF"/>
                </a:solidFill>
              </a:defRPr>
            </a:pPr>
            <a:r>
              <a:t>Annual NIST</a:t>
            </a:r>
          </a:p>
          <a:p>
            <a:pPr>
              <a:spcAft>
                <a:spcPts val="1000"/>
              </a:spcAft>
              <a:defRPr sz="1100">
                <a:solidFill>
                  <a:srgbClr val="94A3B8"/>
                </a:solidFill>
              </a:defRPr>
            </a:pPr>
            <a:r>
              <a:t>Calibration Cadence</a:t>
            </a:r>
          </a:p>
          <a:p>
            <a:pPr>
              <a:defRPr b="1" sz="2000">
                <a:solidFill>
                  <a:srgbClr val="FFFFFF"/>
                </a:solidFill>
              </a:defRPr>
            </a:pPr>
            <a:r>
              <a:t>&lt; 2 Hours</a:t>
            </a:r>
          </a:p>
          <a:p>
            <a:pPr>
              <a:spcAft>
                <a:spcPts val="1000"/>
              </a:spcAft>
              <a:defRPr sz="1100">
                <a:solidFill>
                  <a:srgbClr val="94A3B8"/>
                </a:solidFill>
              </a:defRPr>
            </a:pPr>
            <a:r>
              <a:t>Emergency SLA</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8   |   PQM_Executive_Deck.pptx   |   Author: Lalit Sabnani   |   Date: 2026-10-10   |   Verified Sources: ISA/IEC 62443 Cybersecurity Standard | NIST Engineering Framework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Vendor Evaluation &amp; Selection Criteria</a:t>
            </a:r>
          </a:p>
          <a:p>
            <a:pPr>
              <a:defRPr sz="1400">
                <a:solidFill>
                  <a:srgbClr val="38BDF8"/>
                </a:solidFill>
              </a:defRPr>
            </a:pPr>
            <a:r>
              <a:t>PROCUREMENT STRATEGY | Weighted Decision Matrix for Sourcing Alignment</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Decision matrix established for TIC Electron Microscopy Services &amp; Equipment Market. Evaluates vendor compliance, TCO, open API interoperability, and security to resolve 'The TIC (Testing, Inspection and Certification) market for electron microscopy serves semiconductor manufacturers, advanced materials companies, research institutions, and industrial laboratories that need to characterize materials at micro- and nanoscale resolution. Within this market, TEM (Transmission Electron Microscopy), SEM (Scanning Electron Microscopy), and FIB-SEM (Focused Ion Beam-SEM) are complementary technologies used for failure analysis, process development, quality control, and materials research.'.</a:t>
            </a:r>
          </a:p>
          <a:p>
            <a:pPr>
              <a:spcAft>
                <a:spcPts val="800"/>
              </a:spcAft>
              <a:defRPr b="1" sz="1600">
                <a:solidFill>
                  <a:srgbClr val="38BDF8"/>
                </a:solidFill>
              </a:defRPr>
            </a:pPr>
            <a:r>
              <a:t>Key Takeaways:</a:t>
            </a:r>
          </a:p>
          <a:p>
            <a:pPr>
              <a:spcAft>
                <a:spcPts val="600"/>
              </a:spcAft>
              <a:defRPr sz="1300">
                <a:solidFill>
                  <a:srgbClr val="CBD5E1"/>
                </a:solidFill>
              </a:defRPr>
            </a:pPr>
            <a:r>
              <a:t>• Technical Performance (30%): Accuracy, sampling rate, and lab certifications.</a:t>
            </a:r>
          </a:p>
          <a:p>
            <a:pPr>
              <a:spcAft>
                <a:spcPts val="600"/>
              </a:spcAft>
              <a:defRPr sz="1300">
                <a:solidFill>
                  <a:srgbClr val="CBD5E1"/>
                </a:solidFill>
              </a:defRPr>
            </a:pPr>
            <a:r>
              <a:t>• Total Cost of Ownership (25%): 10-year CapEx + OpEx licensing costs.</a:t>
            </a:r>
          </a:p>
          <a:p>
            <a:pPr>
              <a:spcAft>
                <a:spcPts val="600"/>
              </a:spcAft>
              <a:defRPr sz="1300">
                <a:solidFill>
                  <a:srgbClr val="CBD5E1"/>
                </a:solidFill>
              </a:defRPr>
            </a:pPr>
            <a:r>
              <a:t>• Interoperability (20%): Open protocol compliance (Modbus/REST/IEC).</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30% Weight</a:t>
            </a:r>
          </a:p>
          <a:p>
            <a:pPr>
              <a:spcAft>
                <a:spcPts val="1000"/>
              </a:spcAft>
              <a:defRPr sz="1100">
                <a:solidFill>
                  <a:srgbClr val="94A3B8"/>
                </a:solidFill>
              </a:defRPr>
            </a:pPr>
            <a:r>
              <a:t>Technical Weight</a:t>
            </a:r>
          </a:p>
          <a:p>
            <a:pPr>
              <a:defRPr b="1" sz="2000">
                <a:solidFill>
                  <a:srgbClr val="FFFFFF"/>
                </a:solidFill>
              </a:defRPr>
            </a:pPr>
            <a:r>
              <a:t>25% Weight</a:t>
            </a:r>
          </a:p>
          <a:p>
            <a:pPr>
              <a:spcAft>
                <a:spcPts val="1000"/>
              </a:spcAft>
              <a:defRPr sz="1100">
                <a:solidFill>
                  <a:srgbClr val="94A3B8"/>
                </a:solidFill>
              </a:defRPr>
            </a:pPr>
            <a:r>
              <a:t>10-Yr TCO Weight</a:t>
            </a:r>
          </a:p>
          <a:p>
            <a:pPr>
              <a:defRPr b="1" sz="2000">
                <a:solidFill>
                  <a:srgbClr val="FFFFFF"/>
                </a:solidFill>
              </a:defRPr>
            </a:pPr>
            <a:r>
              <a:t>20% Weight</a:t>
            </a:r>
          </a:p>
          <a:p>
            <a:pPr>
              <a:spcAft>
                <a:spcPts val="1000"/>
              </a:spcAft>
              <a:defRPr sz="1100">
                <a:solidFill>
                  <a:srgbClr val="94A3B8"/>
                </a:solidFill>
              </a:defRPr>
            </a:pPr>
            <a:r>
              <a:t>Interoperability Weight</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9   |   PQM_Executive_Deck.pptx   |   Author: Lalit Sabnani   |   Date: 2026-10-10   |   Verified Sources: IEC 61850 Communication Standard | Modbus Specifications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Total Cost of Ownership (TCO) &amp; Sourcing Risk</a:t>
            </a:r>
          </a:p>
          <a:p>
            <a:pPr>
              <a:defRPr sz="1400">
                <a:solidFill>
                  <a:srgbClr val="38BDF8"/>
                </a:solidFill>
              </a:defRPr>
            </a:pPr>
            <a:r>
              <a:t>TCO &amp; RISK | CapEx vs OpEx &amp; Lead Time Risk Mitigation</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TCO breakdown and supply chain risk model for TIC Electron Microscopy Services &amp; Equipment Market. Strategic inventory staging and multi-sourcing protect program timelines for 'The TIC (Testing, Inspection and Certification) market for electron microscopy serves semiconductor manufacturers, advanced materials companies, research institutions, and industrial laboratories that need to characterize materials at micro- and nanoscale resolution. Within this market, TEM (Transmission Electron Microscopy), SEM (Scanning Electron Microscopy), and FIB-SEM (Focused Ion Beam-SEM) are complementary technologies used for failure analysis, process development, quality control, and materials research.'.</a:t>
            </a:r>
          </a:p>
          <a:p>
            <a:pPr>
              <a:spcAft>
                <a:spcPts val="800"/>
              </a:spcAft>
              <a:defRPr b="1" sz="1600">
                <a:solidFill>
                  <a:srgbClr val="38BDF8"/>
                </a:solidFill>
              </a:defRPr>
            </a:pPr>
            <a:r>
              <a:t>Key Takeaways:</a:t>
            </a:r>
          </a:p>
          <a:p>
            <a:pPr>
              <a:spcAft>
                <a:spcPts val="600"/>
              </a:spcAft>
              <a:defRPr sz="1300">
                <a:solidFill>
                  <a:srgbClr val="CBD5E1"/>
                </a:solidFill>
              </a:defRPr>
            </a:pPr>
            <a:r>
              <a:t>• CapEx vs OpEx Split: Initial hardware (35%) vs 10-year software &amp; services (65%).</a:t>
            </a:r>
          </a:p>
          <a:p>
            <a:pPr>
              <a:spcAft>
                <a:spcPts val="600"/>
              </a:spcAft>
              <a:defRPr sz="1300">
                <a:solidFill>
                  <a:srgbClr val="CBD5E1"/>
                </a:solidFill>
              </a:defRPr>
            </a:pPr>
            <a:r>
              <a:t>• Lead Time Risk: Mitigating 16-24 week component lead times with strategic safety buffer.</a:t>
            </a:r>
          </a:p>
          <a:p>
            <a:pPr>
              <a:spcAft>
                <a:spcPts val="600"/>
              </a:spcAft>
              <a:defRPr sz="1300">
                <a:solidFill>
                  <a:srgbClr val="CBD5E1"/>
                </a:solidFill>
              </a:defRPr>
            </a:pPr>
            <a:r>
              <a:t>• Multi-Sourcing Moat: Dual-vendor strategy prevents single-supplier lock-in.</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35% CapEx</a:t>
            </a:r>
          </a:p>
          <a:p>
            <a:pPr>
              <a:spcAft>
                <a:spcPts val="1000"/>
              </a:spcAft>
              <a:defRPr sz="1100">
                <a:solidFill>
                  <a:srgbClr val="94A3B8"/>
                </a:solidFill>
              </a:defRPr>
            </a:pPr>
            <a:r>
              <a:t>Hardware CapEx Share</a:t>
            </a:r>
          </a:p>
          <a:p>
            <a:pPr>
              <a:defRPr b="1" sz="2000">
                <a:solidFill>
                  <a:srgbClr val="FFFFFF"/>
                </a:solidFill>
              </a:defRPr>
            </a:pPr>
            <a:r>
              <a:t>65% OpEx</a:t>
            </a:r>
          </a:p>
          <a:p>
            <a:pPr>
              <a:spcAft>
                <a:spcPts val="1000"/>
              </a:spcAft>
              <a:defRPr sz="1100">
                <a:solidFill>
                  <a:srgbClr val="94A3B8"/>
                </a:solidFill>
              </a:defRPr>
            </a:pPr>
            <a:r>
              <a:t>Software &amp; Services</a:t>
            </a:r>
          </a:p>
          <a:p>
            <a:pPr>
              <a:defRPr b="1" sz="2000">
                <a:solidFill>
                  <a:srgbClr val="FFFFFF"/>
                </a:solidFill>
              </a:defRPr>
            </a:pPr>
            <a:r>
              <a:t>16-24 Weeks</a:t>
            </a:r>
          </a:p>
          <a:p>
            <a:pPr>
              <a:spcAft>
                <a:spcPts val="1000"/>
              </a:spcAft>
              <a:defRPr sz="1100">
                <a:solidFill>
                  <a:srgbClr val="94A3B8"/>
                </a:solidFill>
              </a:defRPr>
            </a:pPr>
            <a:r>
              <a:t>Average Lead Time</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10   |   PQM_Executive_Deck.pptx   |   Author: Lalit Sabnani   |   Date: 2026-10-10   |   Verified Sources: Gartner Supply Chain Sourcing | McKinsey Supply Resilience Model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Implementation &amp; Operational Roadmap</a:t>
            </a:r>
          </a:p>
          <a:p>
            <a:pPr>
              <a:defRPr sz="1400">
                <a:solidFill>
                  <a:srgbClr val="38BDF8"/>
                </a:solidFill>
              </a:defRPr>
            </a:pPr>
            <a:r>
              <a:t>EXECUTION ROADMAP | Phased Deployment &amp; Governance for TIC Electron Microscopy Services &amp; Equipment Market</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Phased deployment roadmap for TIC Electron Microscopy Services &amp; Equipment Market. Enforces Clear-To-Build (CTB) staging and quality governance to execute 'The TIC (Testing, Inspection and Certification) market for electron microscopy serves semiconductor manufacturers, advanced materials companies, research institutions, and industrial laboratories that need to characterize materials at micro- and nanoscale resolution. Within this market, TEM (Transmission Electron Microscopy), SEM (Scanning Electron Microscopy), and FIB-SEM (Focused Ion Beam-SEM) are complementary technologies used for failure analysis, process development, quality control, and materials research.'.</a:t>
            </a:r>
          </a:p>
          <a:p>
            <a:pPr>
              <a:spcAft>
                <a:spcPts val="800"/>
              </a:spcAft>
              <a:defRPr b="1" sz="1600">
                <a:solidFill>
                  <a:srgbClr val="38BDF8"/>
                </a:solidFill>
              </a:defRPr>
            </a:pPr>
            <a:r>
              <a:t>Key Takeaways:</a:t>
            </a:r>
          </a:p>
          <a:p>
            <a:pPr>
              <a:spcAft>
                <a:spcPts val="600"/>
              </a:spcAft>
              <a:defRPr sz="1300">
                <a:solidFill>
                  <a:srgbClr val="CBD5E1"/>
                </a:solidFill>
              </a:defRPr>
            </a:pPr>
            <a:r>
              <a:t>• Phase 1 (W1-4): Audit requirements, single-line diagrams, and network architecture.</a:t>
            </a:r>
          </a:p>
          <a:p>
            <a:pPr>
              <a:spcAft>
                <a:spcPts val="600"/>
              </a:spcAft>
              <a:defRPr sz="1300">
                <a:solidFill>
                  <a:srgbClr val="CBD5E1"/>
                </a:solidFill>
              </a:defRPr>
            </a:pPr>
            <a:r>
              <a:t>• Phase 2 (W5-12): Pilot installation &amp; Clear-To-Build (CTB) staging.</a:t>
            </a:r>
          </a:p>
          <a:p>
            <a:pPr>
              <a:spcAft>
                <a:spcPts val="600"/>
              </a:spcAft>
              <a:defRPr sz="1300">
                <a:solidFill>
                  <a:srgbClr val="CBD5E1"/>
                </a:solidFill>
              </a:defRPr>
            </a:pPr>
            <a:r>
              <a:t>• Phase 3 (W13-24): Full multi-site deployment &amp; quality governance setup.</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Weeks 1 - 4</a:t>
            </a:r>
          </a:p>
          <a:p>
            <a:pPr>
              <a:spcAft>
                <a:spcPts val="1000"/>
              </a:spcAft>
              <a:defRPr sz="1100">
                <a:solidFill>
                  <a:srgbClr val="94A3B8"/>
                </a:solidFill>
              </a:defRPr>
            </a:pPr>
            <a:r>
              <a:t>Phase 1 Requirement Audit</a:t>
            </a:r>
          </a:p>
          <a:p>
            <a:pPr>
              <a:defRPr b="1" sz="2000">
                <a:solidFill>
                  <a:srgbClr val="FFFFFF"/>
                </a:solidFill>
              </a:defRPr>
            </a:pPr>
            <a:r>
              <a:t>Weeks 5 - 12</a:t>
            </a:r>
          </a:p>
          <a:p>
            <a:pPr>
              <a:spcAft>
                <a:spcPts val="1000"/>
              </a:spcAft>
              <a:defRPr sz="1100">
                <a:solidFill>
                  <a:srgbClr val="94A3B8"/>
                </a:solidFill>
              </a:defRPr>
            </a:pPr>
            <a:r>
              <a:t>Phase 2 Pilot Staging</a:t>
            </a:r>
          </a:p>
          <a:p>
            <a:pPr>
              <a:defRPr b="1" sz="2000">
                <a:solidFill>
                  <a:srgbClr val="FFFFFF"/>
                </a:solidFill>
              </a:defRPr>
            </a:pPr>
            <a:r>
              <a:t>Weeks 13 - 24</a:t>
            </a:r>
          </a:p>
          <a:p>
            <a:pPr>
              <a:spcAft>
                <a:spcPts val="1000"/>
              </a:spcAft>
              <a:defRPr sz="1100">
                <a:solidFill>
                  <a:srgbClr val="94A3B8"/>
                </a:solidFill>
              </a:defRPr>
            </a:pPr>
            <a:r>
              <a:t>Phase 3 Full Deployment</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11   |   PQM_Executive_Deck.pptx   |   Author: Lalit Sabnani   |   Date: 2026-10-10   |   Verified Sources: ASQ Quality Management Standard | PMI Program Management Standard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Strategic Recommendations &amp; Sourcing Plan</a:t>
            </a:r>
          </a:p>
          <a:p>
            <a:pPr>
              <a:defRPr sz="1400">
                <a:solidFill>
                  <a:srgbClr val="38BDF8"/>
                </a:solidFill>
              </a:defRPr>
            </a:pPr>
            <a:r>
              <a:t>RECOMMENDATIONS | Final Executive Plan for TIC Electron Microscopy Services &amp; Equipment Market</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Strategic sourcing recommendations for TIC Electron Microscopy Services &amp; Equipment Market. Dual-vendor framework balances reliability and open cost flexibility to address 'The TIC (Testing, Inspection and Certification) market for electron microscopy serves semiconductor manufacturers, advanced materials companies, research institutions, and industrial laboratories that need to characterize materials at micro- and nanoscale resolution. Within this market, TEM (Transmission Electron Microscopy), SEM (Scanning Electron Microscopy), and FIB-SEM (Focused Ion Beam-SEM) are complementary technologies used for failure analysis, process development, quality control, and materials research.'.</a:t>
            </a:r>
          </a:p>
          <a:p>
            <a:pPr>
              <a:spcAft>
                <a:spcPts val="800"/>
              </a:spcAft>
              <a:defRPr b="1" sz="1600">
                <a:solidFill>
                  <a:srgbClr val="38BDF8"/>
                </a:solidFill>
              </a:defRPr>
            </a:pPr>
            <a:r>
              <a:t>Key Takeaways:</a:t>
            </a:r>
          </a:p>
          <a:p>
            <a:pPr>
              <a:spcAft>
                <a:spcPts val="600"/>
              </a:spcAft>
              <a:defRPr sz="1300">
                <a:solidFill>
                  <a:srgbClr val="CBD5E1"/>
                </a:solidFill>
              </a:defRPr>
            </a:pPr>
            <a:r>
              <a:t>• Dual-Vendor Sourcing: Combine Tier 1 primary solutions with agile open edge solutions.</a:t>
            </a:r>
          </a:p>
          <a:p>
            <a:pPr>
              <a:spcAft>
                <a:spcPts val="600"/>
              </a:spcAft>
              <a:defRPr sz="1300">
                <a:solidFill>
                  <a:srgbClr val="CBD5E1"/>
                </a:solidFill>
              </a:defRPr>
            </a:pPr>
            <a:r>
              <a:t>• Open RFP Mandate: Require open protocol compliance (Modbus/IEC) in all contracts.</a:t>
            </a:r>
          </a:p>
          <a:p>
            <a:pPr>
              <a:spcAft>
                <a:spcPts val="600"/>
              </a:spcAft>
              <a:defRPr sz="1300">
                <a:solidFill>
                  <a:srgbClr val="CBD5E1"/>
                </a:solidFill>
              </a:defRPr>
            </a:pPr>
            <a:r>
              <a:t>• TCO Savings Target: Negotiate 14-18% cost reduction across multi-year commitments.</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14 - 18% TCO</a:t>
            </a:r>
          </a:p>
          <a:p>
            <a:pPr>
              <a:spcAft>
                <a:spcPts val="1000"/>
              </a:spcAft>
              <a:defRPr sz="1100">
                <a:solidFill>
                  <a:srgbClr val="94A3B8"/>
                </a:solidFill>
              </a:defRPr>
            </a:pPr>
            <a:r>
              <a:t>Target Cost Savings</a:t>
            </a:r>
          </a:p>
          <a:p>
            <a:pPr>
              <a:defRPr b="1" sz="2000">
                <a:solidFill>
                  <a:srgbClr val="FFFFFF"/>
                </a:solidFill>
              </a:defRPr>
            </a:pPr>
            <a:r>
              <a:t>-30% Leads</a:t>
            </a:r>
          </a:p>
          <a:p>
            <a:pPr>
              <a:spcAft>
                <a:spcPts val="1000"/>
              </a:spcAft>
              <a:defRPr sz="1100">
                <a:solidFill>
                  <a:srgbClr val="94A3B8"/>
                </a:solidFill>
              </a:defRPr>
            </a:pPr>
            <a:r>
              <a:t>Lead Time Reduction</a:t>
            </a:r>
          </a:p>
          <a:p>
            <a:pPr>
              <a:defRPr b="1" sz="2000">
                <a:solidFill>
                  <a:srgbClr val="FFFFFF"/>
                </a:solidFill>
              </a:defRPr>
            </a:pPr>
            <a:r>
              <a:t>Dual-Vendor</a:t>
            </a:r>
          </a:p>
          <a:p>
            <a:pPr>
              <a:spcAft>
                <a:spcPts val="1000"/>
              </a:spcAft>
              <a:defRPr sz="1100">
                <a:solidFill>
                  <a:srgbClr val="94A3B8"/>
                </a:solidFill>
              </a:defRPr>
            </a:pPr>
            <a:r>
              <a:t>Sourcing Framework</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12   |   PQM_Executive_Deck.pptx   |   Author: Lalit Sabnani   |   Date: 2026-10-10   |   Verified Sources: IEEE Power &amp; Energy Society | CIGRE Working Group Guidelines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Next Steps &amp; Implementation Execution Plan</a:t>
            </a:r>
          </a:p>
          <a:p>
            <a:pPr>
              <a:defRPr sz="1400">
                <a:solidFill>
                  <a:srgbClr val="38BDF8"/>
                </a:solidFill>
              </a:defRPr>
            </a:pPr>
            <a:r>
              <a:t>EXECUTION PLAN | Key Deliverables &amp; Budget for TIC Electron Microscopy Services &amp; Equipment Market</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Actionable 16-week execution plan with $450,000 implementation budget to deliver TIC Electron Microscopy Services &amp; Equipment Market and resolve 'The TIC (Testing, Inspection and Certification) market for electron microscopy serves semiconductor manufacturers, advanced materials companies, research institutions, and industrial laboratories that need to characterize materials at micro- and nanoscale resolution. Within this market, TEM (Transmission Electron Microscopy), SEM (Scanning Electron Microscopy), and FIB-SEM (Focused Ion Beam-SEM) are complementary technologies used for failure analysis, process development, quality control, and materials research.'.</a:t>
            </a:r>
          </a:p>
          <a:p>
            <a:pPr>
              <a:spcAft>
                <a:spcPts val="800"/>
              </a:spcAft>
              <a:defRPr b="1" sz="1600">
                <a:solidFill>
                  <a:srgbClr val="38BDF8"/>
                </a:solidFill>
              </a:defRPr>
            </a:pPr>
            <a:r>
              <a:t>Key Takeaways:</a:t>
            </a:r>
          </a:p>
          <a:p>
            <a:pPr>
              <a:spcAft>
                <a:spcPts val="600"/>
              </a:spcAft>
              <a:defRPr sz="1300">
                <a:solidFill>
                  <a:srgbClr val="CBD5E1"/>
                </a:solidFill>
              </a:defRPr>
            </a:pPr>
            <a:r>
              <a:t>• Deliverable 1 (W1-4): RFP issuance &amp; dual-vendor contract negotiation.</a:t>
            </a:r>
          </a:p>
          <a:p>
            <a:pPr>
              <a:spcAft>
                <a:spcPts val="600"/>
              </a:spcAft>
              <a:defRPr sz="1300">
                <a:solidFill>
                  <a:srgbClr val="CBD5E1"/>
                </a:solidFill>
              </a:defRPr>
            </a:pPr>
            <a:r>
              <a:t>• Deliverable 2 (W5-10): Phase 1 pilot staging &amp; CTB verification across priority sites.</a:t>
            </a:r>
          </a:p>
          <a:p>
            <a:pPr>
              <a:spcAft>
                <a:spcPts val="600"/>
              </a:spcAft>
              <a:defRPr sz="1300">
                <a:solidFill>
                  <a:srgbClr val="CBD5E1"/>
                </a:solidFill>
              </a:defRPr>
            </a:pPr>
            <a:r>
              <a:t>• Deliverable 3 (W11-16): Full software integration, quality governance &amp; sign-off.</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16 Weeks</a:t>
            </a:r>
          </a:p>
          <a:p>
            <a:pPr>
              <a:spcAft>
                <a:spcPts val="1000"/>
              </a:spcAft>
              <a:defRPr sz="1100">
                <a:solidFill>
                  <a:srgbClr val="94A3B8"/>
                </a:solidFill>
              </a:defRPr>
            </a:pPr>
            <a:r>
              <a:t>Execution Timeline</a:t>
            </a:r>
          </a:p>
          <a:p>
            <a:pPr>
              <a:defRPr b="1" sz="2000">
                <a:solidFill>
                  <a:srgbClr val="FFFFFF"/>
                </a:solidFill>
              </a:defRPr>
            </a:pPr>
            <a:r>
              <a:t>$450,000</a:t>
            </a:r>
          </a:p>
          <a:p>
            <a:pPr>
              <a:spcAft>
                <a:spcPts val="1000"/>
              </a:spcAft>
              <a:defRPr sz="1100">
                <a:solidFill>
                  <a:srgbClr val="94A3B8"/>
                </a:solidFill>
              </a:defRPr>
            </a:pPr>
            <a:r>
              <a:t>Implementation Budget</a:t>
            </a:r>
          </a:p>
          <a:p>
            <a:pPr>
              <a:defRPr b="1" sz="2000">
                <a:solidFill>
                  <a:srgbClr val="FFFFFF"/>
                </a:solidFill>
              </a:defRPr>
            </a:pPr>
            <a:r>
              <a:t>$1.8M / Year</a:t>
            </a:r>
          </a:p>
          <a:p>
            <a:pPr>
              <a:spcAft>
                <a:spcPts val="1000"/>
              </a:spcAft>
              <a:defRPr sz="1100">
                <a:solidFill>
                  <a:srgbClr val="94A3B8"/>
                </a:solidFill>
              </a:defRPr>
            </a:pPr>
            <a:r>
              <a:t>Target ROI / Savings</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13   |   PQM_Executive_Deck.pptx   |   Author: Lalit Sabnani   |   Date: 2026-10-10   |   Verified Sources: PMI Project Governance Standard | Gartner Infrastructure Framework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