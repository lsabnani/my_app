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59436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4BBEC3"/>
                </a:solidFill>
                <a:latin typeface="Aptos"/>
              </a:rPr>
              <a:t>EXECUTIVE STRATEGY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863840" cy="12344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Global TIC
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7863840" cy="4572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800" b="0">
                <a:solidFill>
                  <a:srgbClr val="D3E1ED"/>
                </a:solidFill>
                <a:latin typeface="Aptos"/>
              </a:rPr>
              <a:t>Competitive landscape &amp; growth outlook | 2026–2031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1C3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1280160"/>
            <a:ext cx="265176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4BBEC3"/>
                </a:solidFill>
                <a:latin typeface="Aptos"/>
              </a:rPr>
              <a:t>2026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1691640"/>
            <a:ext cx="2743200" cy="7315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$275.6B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743200"/>
            <a:ext cx="265176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4BBEC3"/>
                </a:solidFill>
                <a:latin typeface="Aptos"/>
              </a:rPr>
              <a:t>2031 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3154680"/>
            <a:ext cx="2743200" cy="7315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$345.4B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7040880" cy="7772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Competitive landscape • growth drivers • strategic priorities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71323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4BBEC3"/>
                </a:solidFill>
                <a:latin typeface="Aptos"/>
              </a:rPr>
              <a:t>EXECUTIVE STRATEGY BRIEFING  | 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754880"/>
            <a:ext cx="2560320" cy="7315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+$69.8B
incremental annual 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33A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10972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87788"/>
                </a:solidFill>
                <a:latin typeface="Aptos"/>
              </a:rPr>
              <a:t>A resilient market, with growth concentrated in specialized services and faster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658368" cy="411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70" b="0">
                <a:solidFill>
                  <a:srgbClr val="687788"/>
                </a:solidFill>
                <a:latin typeface="Aptos"/>
              </a:rPr>
              <a:t>Source: Mordor Intelligence global TIC forecast, 2026–2031. Values are estimates, not audited industry totals.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02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25146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1618488"/>
            <a:ext cx="228600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09999"/>
                </a:solidFill>
                <a:latin typeface="Aptos"/>
              </a:rPr>
              <a:t>$275.6B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57400"/>
            <a:ext cx="22860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87788"/>
                </a:solidFill>
                <a:latin typeface="Aptos"/>
              </a:rPr>
              <a:t>2026 market estimate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481328"/>
            <a:ext cx="25146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1618488"/>
            <a:ext cx="228600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12233A"/>
                </a:solidFill>
                <a:latin typeface="Aptos"/>
              </a:rPr>
              <a:t>$345.4B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057400"/>
            <a:ext cx="22860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87788"/>
                </a:solidFill>
                <a:latin typeface="Aptos"/>
              </a:rPr>
              <a:t>2031 forecast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481328"/>
            <a:ext cx="25146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618488"/>
            <a:ext cx="228600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009999"/>
                </a:solidFill>
                <a:latin typeface="Aptos"/>
              </a:rPr>
              <a:t>+$69.8B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057400"/>
            <a:ext cx="22860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87788"/>
                </a:solidFill>
                <a:latin typeface="Aptos"/>
              </a:rPr>
              <a:t>annual market expansion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481328"/>
            <a:ext cx="25146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44584" y="1618488"/>
            <a:ext cx="228600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400" b="1">
                <a:solidFill>
                  <a:srgbClr val="12233A"/>
                </a:solidFill>
                <a:latin typeface="Aptos"/>
              </a:rPr>
              <a:t>4.6%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2057400"/>
            <a:ext cx="228600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87788"/>
                </a:solidFill>
                <a:latin typeface="Aptos"/>
              </a:rPr>
              <a:t>implied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852928"/>
            <a:ext cx="10789920" cy="32004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73443"/>
                </a:solidFill>
                <a:latin typeface="Aptos"/>
              </a:defRPr>
            </a:pPr>
            <a:r>
              <a:t>•  Compliance and safety requirements underpin recurring demand.</a:t>
            </a:r>
          </a:p>
          <a:p>
            <a:pPr>
              <a:spcAft>
                <a:spcPts val="1200"/>
              </a:spcAft>
              <a:defRPr sz="1700">
                <a:solidFill>
                  <a:srgbClr val="273443"/>
                </a:solidFill>
                <a:latin typeface="Aptos"/>
              </a:defRPr>
            </a:pPr>
            <a:r>
              <a:t>•  Specialized testing and digital delivery are forecast to outgrow the market average.</a:t>
            </a:r>
          </a:p>
          <a:p>
            <a:pPr>
              <a:spcAft>
                <a:spcPts val="1200"/>
              </a:spcAft>
              <a:defRPr sz="1700">
                <a:solidFill>
                  <a:srgbClr val="273443"/>
                </a:solidFill>
                <a:latin typeface="Aptos"/>
              </a:defRPr>
            </a:pPr>
            <a:r>
              <a:t>•  Winning strategies combine technical differentiation with operational productivity.</a:t>
            </a:r>
          </a:p>
          <a:p>
            <a:pPr>
              <a:spcAft>
                <a:spcPts val="1200"/>
              </a:spcAft>
              <a:defRPr sz="1700">
                <a:solidFill>
                  <a:srgbClr val="273443"/>
                </a:solidFill>
                <a:latin typeface="Aptos"/>
              </a:defRPr>
            </a:pPr>
            <a:r>
              <a:t>•  Use focused expansion and selective M&amp;A—not breadth for its own sake.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33A"/>
                </a:solidFill>
                <a:latin typeface="Aptos"/>
              </a:rPr>
              <a:t>Market size &amp; five-year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10972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87788"/>
                </a:solidFill>
                <a:latin typeface="Aptos"/>
              </a:rPr>
              <a:t>The base forecast implies about $70B of additional annual market revenue by 2031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658368" cy="411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70" b="0">
                <a:solidFill>
                  <a:srgbClr val="687788"/>
                </a:solidFill>
                <a:latin typeface="Aptos"/>
              </a:rPr>
              <a:t>Source: Mordor Intelligence. Intermediate annual values are illustrative CAGR-based estimates; 2026 and 2031 are published endpoints.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03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641848"/>
            <a:ext cx="6583680" cy="10972"/>
          </a:xfrm>
          <a:prstGeom prst="rect">
            <a:avLst/>
          </a:prstGeom>
          <a:solidFill>
            <a:srgbClr val="DE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199" y="5532120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511548"/>
            <a:ext cx="6583680" cy="10972"/>
          </a:xfrm>
          <a:prstGeom prst="rect">
            <a:avLst/>
          </a:prstGeom>
          <a:solidFill>
            <a:srgbClr val="DE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199" y="4401820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381248"/>
            <a:ext cx="6583680" cy="10972"/>
          </a:xfrm>
          <a:prstGeom prst="rect">
            <a:avLst/>
          </a:prstGeom>
          <a:solidFill>
            <a:srgbClr val="DE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199" y="3271519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250948"/>
            <a:ext cx="6583680" cy="10972"/>
          </a:xfrm>
          <a:prstGeom prst="rect">
            <a:avLst/>
          </a:prstGeom>
          <a:solidFill>
            <a:srgbClr val="DE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199" y="2141219"/>
            <a:ext cx="32004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300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19" y="2526741"/>
            <a:ext cx="566928" cy="311510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3855" y="2234133"/>
            <a:ext cx="676656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00" b="1">
                <a:solidFill>
                  <a:srgbClr val="12233A"/>
                </a:solidFill>
                <a:latin typeface="Aptos"/>
              </a:rPr>
              <a:t>$276B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7" y="5733288"/>
            <a:ext cx="71323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87788"/>
                </a:solidFill>
                <a:latin typeface="Aptos"/>
              </a:rPr>
              <a:t>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2383193"/>
            <a:ext cx="566928" cy="3258654"/>
          </a:xfrm>
          <a:prstGeom prst="rect">
            <a:avLst/>
          </a:prstGeom>
          <a:solidFill>
            <a:srgbClr val="4B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39696" y="2090585"/>
            <a:ext cx="676656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00" b="1">
                <a:solidFill>
                  <a:srgbClr val="12233A"/>
                </a:solidFill>
                <a:latin typeface="Aptos"/>
              </a:rPr>
              <a:t>$288B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5733288"/>
            <a:ext cx="71323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87788"/>
                </a:solidFill>
                <a:latin typeface="Aptos"/>
              </a:rPr>
              <a:t>2027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232863"/>
            <a:ext cx="566928" cy="3408984"/>
          </a:xfrm>
          <a:prstGeom prst="rect">
            <a:avLst/>
          </a:prstGeom>
          <a:solidFill>
            <a:srgbClr val="4B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45536" y="1940255"/>
            <a:ext cx="676656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00" b="1">
                <a:solidFill>
                  <a:srgbClr val="12233A"/>
                </a:solidFill>
                <a:latin typeface="Aptos"/>
              </a:rPr>
              <a:t>$302B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5733288"/>
            <a:ext cx="71323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87788"/>
                </a:solidFill>
                <a:latin typeface="Aptos"/>
              </a:rPr>
              <a:t>2028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075751"/>
            <a:ext cx="566928" cy="3566096"/>
          </a:xfrm>
          <a:prstGeom prst="rect">
            <a:avLst/>
          </a:prstGeom>
          <a:solidFill>
            <a:srgbClr val="4B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51376" y="1783143"/>
            <a:ext cx="676656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00" b="1">
                <a:solidFill>
                  <a:srgbClr val="12233A"/>
                </a:solidFill>
                <a:latin typeface="Aptos"/>
              </a:rPr>
              <a:t>$316B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7" y="5733288"/>
            <a:ext cx="71323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87788"/>
                </a:solidFill>
                <a:latin typeface="Aptos"/>
              </a:rPr>
              <a:t>2029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1910727"/>
            <a:ext cx="566928" cy="3731120"/>
          </a:xfrm>
          <a:prstGeom prst="rect">
            <a:avLst/>
          </a:prstGeom>
          <a:solidFill>
            <a:srgbClr val="4B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57216" y="1618119"/>
            <a:ext cx="676656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00" b="1">
                <a:solidFill>
                  <a:srgbClr val="12233A"/>
                </a:solidFill>
                <a:latin typeface="Aptos"/>
              </a:rPr>
              <a:t>$330B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8928" y="5733288"/>
            <a:ext cx="71323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87788"/>
                </a:solidFill>
                <a:latin typeface="Aptos"/>
              </a:rPr>
              <a:t>2030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737791"/>
            <a:ext cx="566928" cy="390405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63056" y="1445183"/>
            <a:ext cx="676656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800" b="1">
                <a:solidFill>
                  <a:srgbClr val="12233A"/>
                </a:solidFill>
                <a:latin typeface="Aptos"/>
              </a:rPr>
              <a:t>$345B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5733288"/>
            <a:ext cx="713232" cy="2011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900" b="0">
                <a:solidFill>
                  <a:srgbClr val="687788"/>
                </a:solidFill>
                <a:latin typeface="Aptos"/>
              </a:rPr>
              <a:t>2031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1737360"/>
            <a:ext cx="3566160" cy="40233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73443"/>
                </a:solidFill>
                <a:latin typeface="Aptos"/>
              </a:defRPr>
            </a:pPr>
            <a:r>
              <a:t>•  2026 estimate: $275.6B</a:t>
            </a:r>
          </a:p>
          <a:p>
            <a:pPr>
              <a:spcAft>
                <a:spcPts val="1400"/>
              </a:spcAft>
              <a:defRPr sz="1500">
                <a:solidFill>
                  <a:srgbClr val="273443"/>
                </a:solidFill>
                <a:latin typeface="Aptos"/>
              </a:defRPr>
            </a:pPr>
            <a:r>
              <a:t>•  2031 forecast: $345.4B</a:t>
            </a:r>
          </a:p>
          <a:p>
            <a:pPr>
              <a:spcAft>
                <a:spcPts val="1400"/>
              </a:spcAft>
              <a:defRPr sz="1500">
                <a:solidFill>
                  <a:srgbClr val="273443"/>
                </a:solidFill>
                <a:latin typeface="Aptos"/>
              </a:defRPr>
            </a:pPr>
            <a:r>
              <a:t>•  Incremental annual revenue: approximately $69.8B</a:t>
            </a:r>
          </a:p>
          <a:p>
            <a:pPr>
              <a:spcAft>
                <a:spcPts val="1400"/>
              </a:spcAft>
              <a:defRPr sz="1500">
                <a:solidFill>
                  <a:srgbClr val="273443"/>
                </a:solidFill>
                <a:latin typeface="Aptos"/>
              </a:defRPr>
            </a:pPr>
            <a:r>
              <a:t>•  Forecast CAGR: 4.62%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33A"/>
                </a:solidFill>
                <a:latin typeface="Aptos"/>
              </a:rPr>
              <a:t>What the TIC market includes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10972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87788"/>
                </a:solidFill>
                <a:latin typeface="Aptos"/>
              </a:rPr>
              <a:t>Three service categories; multiple end markets and delivery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658368" cy="411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70" b="0">
                <a:solidFill>
                  <a:srgbClr val="687788"/>
                </a:solidFill>
                <a:latin typeface="Aptos"/>
              </a:rPr>
              <a:t>Industry definitions vary by research provider; broad estimates may include adjacent laboratory and assurance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04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08760"/>
            <a:ext cx="3517392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719072"/>
            <a:ext cx="3197352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12848"/>
            <a:ext cx="3045834" cy="6832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Laboratory and field analysis of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products, materials, food, chemicals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 and electronics.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913632"/>
            <a:ext cx="3197352" cy="7315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87788"/>
                </a:solidFill>
                <a:latin typeface="Aptos"/>
              </a:rPr>
              <a:t>Value driver: accuracy, technical depth and turnaround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0352" y="1508760"/>
            <a:ext cx="3517392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4944" y="1719072"/>
            <a:ext cx="3197352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4944" y="2212848"/>
            <a:ext cx="2715167" cy="683264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Assessment of facilities, assets,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supply chains, buildings and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industrial equipment.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4944" y="3913632"/>
            <a:ext cx="3197352" cy="7315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87788"/>
                </a:solidFill>
                <a:latin typeface="Aptos"/>
              </a:rPr>
              <a:t>Value driver: field expertise, safety and reliable coverage.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2336" y="1508760"/>
            <a:ext cx="3517392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6928" y="1719072"/>
            <a:ext cx="3197352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CERTIFICATION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6928" y="2212848"/>
            <a:ext cx="3378297" cy="4678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Verification against standards, technical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requirements and management systems.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6928" y="3913632"/>
            <a:ext cx="3197352" cy="7315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687788"/>
                </a:solidFill>
                <a:latin typeface="Aptos"/>
              </a:rPr>
              <a:t>Value driver: credibility, accreditation and trusted assurance.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69848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73443"/>
                </a:solidFill>
                <a:latin typeface="Aptos"/>
              </a:defRPr>
            </a:pPr>
            <a:r>
              <a:t>•  Service categories overlap with end-market sectors and geographies.</a:t>
            </a:r>
          </a:p>
          <a:p>
            <a:pPr>
              <a:spcAft>
                <a:spcPts val="500"/>
              </a:spcAft>
              <a:defRPr sz="1200">
                <a:solidFill>
                  <a:srgbClr val="273443"/>
                </a:solidFill>
                <a:latin typeface="Aptos"/>
              </a:defRPr>
            </a:pPr>
            <a:r>
              <a:t>•  Do not add regional and vertical market estimates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33A"/>
                </a:solidFill>
                <a:latin typeface="Aptos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10972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87788"/>
                </a:solidFill>
                <a:latin typeface="Aptos"/>
              </a:rPr>
              <a:t>Global scale leaders compete with regional and technical specialists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658368" cy="411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70" b="0">
                <a:solidFill>
                  <a:srgbClr val="687788"/>
                </a:solidFill>
                <a:latin typeface="Aptos"/>
              </a:rPr>
              <a:t>Qualitative positioning based on company service portfolios; not a market-share ranking.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05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5285232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609344"/>
            <a:ext cx="1828800" cy="2468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SGS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591056"/>
            <a:ext cx="3246120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Broad global testing, inspection and certification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81328"/>
            <a:ext cx="5285232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609344"/>
            <a:ext cx="1828800" cy="2468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Bureau Veritas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591056"/>
            <a:ext cx="3246120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Buildings, infrastructure, industrial assets and sustainability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624328"/>
            <a:ext cx="5285232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2752344"/>
            <a:ext cx="1828800" cy="2468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Intertek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734056"/>
            <a:ext cx="3246120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Consumer products, electrical safety and supply-chain assurance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24328"/>
            <a:ext cx="5285232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2752344"/>
            <a:ext cx="1828800" cy="2468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Eurofins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34056"/>
            <a:ext cx="3246120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Food, environmental, pharmaceutical and life-sciences laboratories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767328"/>
            <a:ext cx="5285232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3895344"/>
            <a:ext cx="1828800" cy="2468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DEKRA / TÜV groups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877056"/>
            <a:ext cx="3246120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Automotive, mobility, product safety and technical 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767328"/>
            <a:ext cx="5285232" cy="932688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895344"/>
            <a:ext cx="1828800" cy="24688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DNV / Applus+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877056"/>
            <a:ext cx="3246120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Energy, maritime, industrial inspection and specialist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10789920" cy="9144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73443"/>
                </a:solidFill>
                <a:latin typeface="Aptos"/>
              </a:defRPr>
            </a:pPr>
            <a:r>
              <a:t>•  Fragmentation leaves room for regional specialists and niche laboratories.</a:t>
            </a:r>
          </a:p>
          <a:p>
            <a:pPr>
              <a:spcAft>
                <a:spcPts val="500"/>
              </a:spcAft>
              <a:defRPr sz="1200">
                <a:solidFill>
                  <a:srgbClr val="273443"/>
                </a:solidFill>
                <a:latin typeface="Aptos"/>
              </a:defRPr>
            </a:pPr>
            <a:r>
              <a:t>•  Competitive advantage depends on trust, accreditation, technical capability and customer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33A"/>
                </a:solidFill>
                <a:latin typeface="Aptos"/>
              </a:rPr>
              <a:t>Scale &amp; financial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10972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87788"/>
                </a:solidFill>
                <a:latin typeface="Aptos"/>
              </a:rPr>
              <a:t>Large providers show meaningful scale, but reported metrics are not directly comparable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658368" cy="411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70" b="0">
                <a:solidFill>
                  <a:srgbClr val="687788"/>
                </a:solidFill>
                <a:latin typeface="Aptos"/>
              </a:rPr>
              <a:t>FY2025 company results as reported in company releases. *Eurofins includes activities beyond conventional industrial TIC; margin basis differs.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06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19202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81328"/>
            <a:ext cx="23317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FY2025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481328"/>
            <a:ext cx="24231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481328"/>
            <a:ext cx="34747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Profitability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444752"/>
            <a:ext cx="10972800" cy="4297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19202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517904"/>
            <a:ext cx="23317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FY2025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517904"/>
            <a:ext cx="242316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517904"/>
            <a:ext cx="34747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Profitability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1883664"/>
            <a:ext cx="10972800" cy="59436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1938528"/>
            <a:ext cx="19202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SGS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1938528"/>
            <a:ext cx="23317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CHF 6.945B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938528"/>
            <a:ext cx="242316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5.6% organic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938528"/>
            <a:ext cx="34747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16.0% adjusted operating margin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596896"/>
            <a:ext cx="19202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Bureau Veritas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596896"/>
            <a:ext cx="23317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€6.466B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596896"/>
            <a:ext cx="242316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6.5% organic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596896"/>
            <a:ext cx="34747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16.3% adjusted operating margin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200400"/>
            <a:ext cx="10972800" cy="59436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255264"/>
            <a:ext cx="19202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Intertek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255264"/>
            <a:ext cx="23317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£3.432B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255264"/>
            <a:ext cx="242316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4.3% constant-currency growth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255264"/>
            <a:ext cx="34747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18.1% adjusted operating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913632"/>
            <a:ext cx="192024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Aptos"/>
              </a:rPr>
              <a:t>Eurofins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913632"/>
            <a:ext cx="23317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€7.296B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3913632"/>
            <a:ext cx="242316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3.7% organic growth*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3913632"/>
            <a:ext cx="3474720" cy="4114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24.3% adjusted EBITDA margin*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800600"/>
            <a:ext cx="107899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73443"/>
                </a:solidFill>
                <a:latin typeface="Aptos"/>
              </a:defRPr>
            </a:pPr>
            <a:r>
              <a:t>•  Compare service-line economics, not only consolidated group results.</a:t>
            </a:r>
          </a:p>
          <a:p>
            <a:pPr>
              <a:spcAft>
                <a:spcPts val="500"/>
              </a:spcAft>
              <a:defRPr sz="1200">
                <a:solidFill>
                  <a:srgbClr val="273443"/>
                </a:solidFill>
                <a:latin typeface="Aptos"/>
              </a:defRPr>
            </a:pPr>
            <a:r>
              <a:t>•  Separate organic growth from acquisitions and currency effects.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33A"/>
                </a:solidFill>
                <a:latin typeface="Aptos"/>
              </a:rPr>
              <a:t>Where growth is strongest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10972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87788"/>
                </a:solidFill>
                <a:latin typeface="Aptos"/>
              </a:rPr>
              <a:t>Published segment forecasts identify several above-market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658368" cy="411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70" b="0">
                <a:solidFill>
                  <a:srgbClr val="687788"/>
                </a:solidFill>
                <a:latin typeface="Aptos"/>
              </a:rPr>
              <a:t>Directional forecasts from Mordor Intelligence segment reports; definitions and forecast periods may vary.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07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22402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2233A"/>
                </a:solidFill>
                <a:latin typeface="Aptos"/>
              </a:rPr>
              <a:t>Digital / remote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81328"/>
            <a:ext cx="12801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09999"/>
                </a:solidFill>
                <a:latin typeface="Aptos"/>
              </a:rPr>
              <a:t>~6.8% 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81328"/>
            <a:ext cx="6766560" cy="3931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273443"/>
                </a:solidFill>
                <a:latin typeface="Aptos"/>
              </a:rPr>
              <a:t>Faster workflows, remote inspection and automated reporting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1984248"/>
            <a:ext cx="10789920" cy="10972"/>
          </a:xfrm>
          <a:prstGeom prst="rect">
            <a:avLst/>
          </a:prstGeom>
          <a:solidFill>
            <a:srgbClr val="DE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313432"/>
            <a:ext cx="22402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2233A"/>
                </a:solidFill>
                <a:latin typeface="Aptos"/>
              </a:rPr>
              <a:t>Food &amp; agriculture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313432"/>
            <a:ext cx="12801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09999"/>
                </a:solidFill>
                <a:latin typeface="Aptos"/>
              </a:rPr>
              <a:t>~6.4% CAGR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13432"/>
            <a:ext cx="6766560" cy="3931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273443"/>
                </a:solidFill>
                <a:latin typeface="Aptos"/>
              </a:rPr>
              <a:t>Safety, residues, traceability and supply-chain assurance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816352"/>
            <a:ext cx="10789920" cy="10972"/>
          </a:xfrm>
          <a:prstGeom prst="rect">
            <a:avLst/>
          </a:prstGeom>
          <a:solidFill>
            <a:srgbClr val="DE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145536"/>
            <a:ext cx="22402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2233A"/>
                </a:solidFill>
                <a:latin typeface="Aptos"/>
              </a:rPr>
              <a:t>Industrial / manufacturing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145536"/>
            <a:ext cx="12801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09999"/>
                </a:solidFill>
                <a:latin typeface="Aptos"/>
              </a:rPr>
              <a:t>~6.1% CAGR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45536"/>
            <a:ext cx="6766560" cy="3931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273443"/>
                </a:solidFill>
                <a:latin typeface="Aptos"/>
              </a:rPr>
              <a:t>Asset integrity, materials and quality verification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648456"/>
            <a:ext cx="10789920" cy="10972"/>
          </a:xfrm>
          <a:prstGeom prst="rect">
            <a:avLst/>
          </a:prstGeom>
          <a:solidFill>
            <a:srgbClr val="DE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22402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2233A"/>
                </a:solidFill>
                <a:latin typeface="Aptos"/>
              </a:rPr>
              <a:t>Certification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977639"/>
            <a:ext cx="12801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09999"/>
                </a:solidFill>
                <a:latin typeface="Aptos"/>
              </a:rPr>
              <a:t>~4.9% CAGR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39"/>
            <a:ext cx="6766560" cy="3931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273443"/>
                </a:solidFill>
                <a:latin typeface="Aptos"/>
              </a:rPr>
              <a:t>Standards, compliance and assurance needs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4480559"/>
            <a:ext cx="10789920" cy="10972"/>
          </a:xfrm>
          <a:prstGeom prst="rect">
            <a:avLst/>
          </a:prstGeom>
          <a:solidFill>
            <a:srgbClr val="DE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809744"/>
            <a:ext cx="224028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12233A"/>
                </a:solidFill>
                <a:latin typeface="Aptos"/>
              </a:rPr>
              <a:t>Global 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809744"/>
            <a:ext cx="12801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009999"/>
                </a:solidFill>
                <a:latin typeface="Aptos"/>
              </a:rPr>
              <a:t>~4.6% CAGR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809744"/>
            <a:ext cx="6766560" cy="3931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273443"/>
                </a:solidFill>
                <a:latin typeface="Aptos"/>
              </a:rPr>
              <a:t>Overall market benchmark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5312664"/>
            <a:ext cx="10789920" cy="10972"/>
          </a:xfrm>
          <a:prstGeom prst="rect">
            <a:avLst/>
          </a:prstGeom>
          <a:solidFill>
            <a:srgbClr val="DE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33A"/>
                </a:solidFill>
                <a:latin typeface="Aptos"/>
              </a:rPr>
              <a:t>Growth-driver contribution: what we can quantify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10972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87788"/>
                </a:solidFill>
                <a:latin typeface="Aptos"/>
              </a:rPr>
              <a:t>Separate geographic opportunity from industry verticals and underlying causes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658368" cy="411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70" b="0">
                <a:solidFill>
                  <a:srgbClr val="687788"/>
                </a:solidFill>
                <a:latin typeface="Aptos"/>
              </a:rPr>
              <a:t>Mordor Intelligence forecast series. Geography and verticals overlap; figures are directional and rounded.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08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21488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2233A"/>
                </a:solidFill>
                <a:latin typeface="Aptos"/>
              </a:rPr>
              <a:t>Asia-Pacific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572768"/>
            <a:ext cx="2741567" cy="310896"/>
          </a:xfrm>
          <a:prstGeom prst="roundRect">
            <a:avLst/>
          </a:prstGeom>
          <a:solidFill>
            <a:srgbClr val="4B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23095" y="1572768"/>
            <a:ext cx="1097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2233A"/>
                </a:solidFill>
                <a:latin typeface="Aptos"/>
              </a:rPr>
              <a:t>$36.5B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50008"/>
            <a:ext cx="21488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2233A"/>
                </a:solidFill>
                <a:latin typeface="Aptos"/>
              </a:rPr>
              <a:t>Food &amp; agriculture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350008"/>
            <a:ext cx="878803" cy="310896"/>
          </a:xfrm>
          <a:prstGeom prst="roundRect">
            <a:avLst/>
          </a:prstGeom>
          <a:solidFill>
            <a:srgbClr val="4B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0331" y="2350008"/>
            <a:ext cx="1097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2233A"/>
                </a:solidFill>
                <a:latin typeface="Aptos"/>
              </a:rPr>
              <a:t>$11.7B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27248"/>
            <a:ext cx="21488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2233A"/>
                </a:solidFill>
                <a:latin typeface="Aptos"/>
              </a:rPr>
              <a:t>Industrial / manufacturing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3127248"/>
            <a:ext cx="563335" cy="310896"/>
          </a:xfrm>
          <a:prstGeom prst="roundRect">
            <a:avLst/>
          </a:prstGeom>
          <a:solidFill>
            <a:srgbClr val="4B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44863" y="3127248"/>
            <a:ext cx="1097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2233A"/>
                </a:solidFill>
                <a:latin typeface="Aptos"/>
              </a:rPr>
              <a:t>$7.5B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04487"/>
            <a:ext cx="21488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2233A"/>
                </a:solidFill>
                <a:latin typeface="Aptos"/>
              </a:rPr>
              <a:t>Global market increase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3904487"/>
            <a:ext cx="5242777" cy="310896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4305" y="3904487"/>
            <a:ext cx="1097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12233A"/>
                </a:solidFill>
                <a:latin typeface="Aptos"/>
              </a:rPr>
              <a:t>$69.8B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0789920" cy="12801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•  Asia-Pacific: ~$36.5B market increase from 2026 to 2031.</a:t>
            </a:r>
          </a:p>
          <a:p>
            <a:pPr>
              <a:spcAft>
                <a:spcPts val="4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•  Food &amp; agriculture: ~$11.7B segment increase.</a:t>
            </a:r>
          </a:p>
          <a:p>
            <a:pPr>
              <a:spcAft>
                <a:spcPts val="4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•  Industrial / manufacturing: ~$7.5B segment increase.</a:t>
            </a:r>
          </a:p>
          <a:p>
            <a:pPr>
              <a:spcAft>
                <a:spcPts val="400"/>
              </a:spcAft>
              <a:defRPr sz="1100">
                <a:solidFill>
                  <a:srgbClr val="273443"/>
                </a:solidFill>
                <a:latin typeface="Aptos"/>
              </a:defRPr>
            </a:pPr>
            <a:r>
              <a:t>•  These figures overlap; they are not additive shares of total growth.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33A"/>
                </a:solidFill>
                <a:latin typeface="Aptos"/>
              </a:rPr>
              <a:t>Competitive forces &amp; strategic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10972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87788"/>
                </a:solidFill>
                <a:latin typeface="Aptos"/>
              </a:rPr>
              <a:t>The industry rewards credibility and specialization—but faces real cost and capacity pressures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658368" cy="411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70" b="0">
                <a:solidFill>
                  <a:srgbClr val="687788"/>
                </a:solidFill>
                <a:latin typeface="Aptos"/>
              </a:rPr>
              <a:t>Strategic synthesis of industry structure and published segment outlooks.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09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08760"/>
            <a:ext cx="2596896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719072"/>
            <a:ext cx="227685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12848"/>
            <a:ext cx="2233945" cy="8987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Regulation, product safety,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 supply-chain complexity,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energy transition and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quality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508760"/>
            <a:ext cx="2596896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1719072"/>
            <a:ext cx="227685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212848"/>
            <a:ext cx="2214581" cy="8987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Global networks,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local accreditation,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specialist expertise,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turnaround time and price.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508760"/>
            <a:ext cx="2596896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1719072"/>
            <a:ext cx="227685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ECONOMICS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212848"/>
            <a:ext cx="2060692" cy="8987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Utilization, skilled labor,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 equipment intensity,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repeat testing and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customer concentration.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2832" y="1508760"/>
            <a:ext cx="2596896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07424" y="1719072"/>
            <a:ext cx="2276856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DISRUPTION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2212848"/>
            <a:ext cx="2098267" cy="8987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AI-assisted inspection,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 remote delivery,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automated reporting and </a:t>
            </a:r>
            <a:endParaRPr lang="en-US" sz="1400" b="1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400" b="1" dirty="0">
                <a:solidFill>
                  <a:srgbClr val="273443"/>
                </a:solidFill>
                <a:latin typeface="Aptos"/>
              </a:rPr>
              <a:t>data-enabled services.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69848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73443"/>
                </a:solidFill>
                <a:latin typeface="Aptos"/>
              </a:defRPr>
            </a:pPr>
            <a:r>
              <a:t>•  Avoid competing on price alone in routine, commoditized services.</a:t>
            </a:r>
          </a:p>
          <a:p>
            <a:pPr>
              <a:spcAft>
                <a:spcPts val="500"/>
              </a:spcAft>
              <a:defRPr sz="1200">
                <a:solidFill>
                  <a:srgbClr val="273443"/>
                </a:solidFill>
                <a:latin typeface="Aptos"/>
              </a:defRPr>
            </a:pPr>
            <a:r>
              <a:t>•  Build a differentiated proposition around risk reduction, speed and decision quality.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33A"/>
                </a:solidFill>
                <a:latin typeface="Aptos"/>
              </a:rPr>
              <a:t>Recommended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10972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87788"/>
                </a:solidFill>
                <a:latin typeface="Aptos"/>
              </a:rPr>
              <a:t>Focus on defensible niches, operating excellence and selective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658368" cy="411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70" b="0">
                <a:solidFill>
                  <a:srgbClr val="687788"/>
                </a:solidFill>
                <a:latin typeface="Aptos"/>
              </a:rPr>
              <a:t>Recommended strategic actions; validate against company-specific economics, customer research and capability gaps.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10 / 12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1499616"/>
            <a:ext cx="438912" cy="43891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554480"/>
            <a:ext cx="43891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481328"/>
            <a:ext cx="4526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Choose niches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828800"/>
            <a:ext cx="452628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Prioritize 2–3 sectors where accreditation, expertise or speed creates barriers.</a:t>
            </a:r>
          </a:p>
        </p:txBody>
      </p:sp>
      <p:sp>
        <p:nvSpPr>
          <p:cNvPr id="12" name="Oval 11"/>
          <p:cNvSpPr/>
          <p:nvPr/>
        </p:nvSpPr>
        <p:spPr>
          <a:xfrm>
            <a:off x="6373368" y="1499616"/>
            <a:ext cx="438912" cy="43891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554480"/>
            <a:ext cx="43891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7728" y="1481328"/>
            <a:ext cx="4526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Improve the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828800"/>
            <a:ext cx="452628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Track utilization, turnaround time, first-pass yield and cost per test.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2670048"/>
            <a:ext cx="438912" cy="43891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2724912"/>
            <a:ext cx="43891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2651760"/>
            <a:ext cx="4526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Expand accounts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2999232"/>
            <a:ext cx="452628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Bundle complementary services and simplify the customer interface.</a:t>
            </a:r>
          </a:p>
        </p:txBody>
      </p:sp>
      <p:sp>
        <p:nvSpPr>
          <p:cNvPr id="20" name="Oval 19"/>
          <p:cNvSpPr/>
          <p:nvPr/>
        </p:nvSpPr>
        <p:spPr>
          <a:xfrm>
            <a:off x="6373368" y="2670048"/>
            <a:ext cx="438912" cy="43891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2724912"/>
            <a:ext cx="43891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651760"/>
            <a:ext cx="4526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Digitize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999232"/>
            <a:ext cx="452628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Pilot AI-assisted inspection and automated reporting with measurable targets.</a:t>
            </a:r>
          </a:p>
        </p:txBody>
      </p:sp>
      <p:sp>
        <p:nvSpPr>
          <p:cNvPr id="24" name="Oval 23"/>
          <p:cNvSpPr/>
          <p:nvPr/>
        </p:nvSpPr>
        <p:spPr>
          <a:xfrm>
            <a:off x="749808" y="3840479"/>
            <a:ext cx="438912" cy="438912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895344"/>
            <a:ext cx="438912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3822191"/>
            <a:ext cx="452628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Use selective 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169663"/>
            <a:ext cx="4526280" cy="5943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273443"/>
                </a:solidFill>
                <a:latin typeface="Aptos"/>
              </a:rPr>
              <a:t>Acquire technical capability or market access—not revenue alone.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33A"/>
                </a:solidFill>
                <a:latin typeface="Aptos"/>
              </a:rPr>
              <a:t>12-month execution &amp;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10972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87788"/>
                </a:solidFill>
                <a:latin typeface="Aptos"/>
              </a:rPr>
              <a:t>Sequence the work so investment follows validated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658368" cy="411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70" b="0">
                <a:solidFill>
                  <a:srgbClr val="687788"/>
                </a:solidFill>
                <a:latin typeface="Aptos"/>
              </a:rPr>
              <a:t>Management roadmap proposal. Set numerical targets after establishing a baseline and service-line economics.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11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260604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700784"/>
            <a:ext cx="23317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009999"/>
                </a:solidFill>
                <a:latin typeface="Aptos"/>
              </a:rPr>
              <a:t>MONTHS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029968"/>
            <a:ext cx="23317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Diagnose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50592"/>
            <a:ext cx="2361287" cy="344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 dirty="0">
                <a:solidFill>
                  <a:srgbClr val="273443"/>
                </a:solidFill>
                <a:latin typeface="Aptos"/>
              </a:rPr>
              <a:t>Segment revenue/margin; map customers</a:t>
            </a:r>
            <a:endParaRPr lang="en-US" sz="1000" b="0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273443"/>
                </a:solidFill>
                <a:latin typeface="Aptos"/>
              </a:rPr>
              <a:t> and competitors; select priority niches.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536192"/>
            <a:ext cx="260604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94176" y="1700784"/>
            <a:ext cx="23317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009999"/>
                </a:solidFill>
                <a:latin typeface="Aptos"/>
              </a:rPr>
              <a:t>MONTHS 4–6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029968"/>
            <a:ext cx="23317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2450592"/>
            <a:ext cx="2132059" cy="344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 dirty="0">
                <a:solidFill>
                  <a:srgbClr val="273443"/>
                </a:solidFill>
                <a:latin typeface="Aptos"/>
              </a:rPr>
              <a:t>Test cross-sell, a digital workflow and </a:t>
            </a:r>
            <a:endParaRPr lang="en-US" sz="1000" b="0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273443"/>
                </a:solidFill>
                <a:latin typeface="Aptos"/>
              </a:rPr>
              <a:t>customer willingness to pay.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536192"/>
            <a:ext cx="260604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104" y="1700784"/>
            <a:ext cx="23317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009999"/>
                </a:solidFill>
                <a:latin typeface="Aptos"/>
              </a:rPr>
              <a:t>MONTHS 7–9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029968"/>
            <a:ext cx="23317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2450592"/>
            <a:ext cx="2518382" cy="344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 dirty="0">
                <a:solidFill>
                  <a:srgbClr val="273443"/>
                </a:solidFill>
                <a:latin typeface="Aptos"/>
              </a:rPr>
              <a:t>Expand proven services; assess partnerships</a:t>
            </a:r>
            <a:endParaRPr lang="en-US" sz="1000" b="0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273443"/>
                </a:solidFill>
                <a:latin typeface="Aptos"/>
              </a:rPr>
              <a:t> and acquisition targets.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2015" y="1536192"/>
            <a:ext cx="2606040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E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0032" y="1700784"/>
            <a:ext cx="2331720" cy="22860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900" b="1">
                <a:solidFill>
                  <a:srgbClr val="009999"/>
                </a:solidFill>
                <a:latin typeface="Aptos"/>
              </a:rPr>
              <a:t>MONTHS 10–12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029968"/>
            <a:ext cx="233172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2233A"/>
                </a:solidFill>
                <a:latin typeface="Aptos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450592"/>
            <a:ext cx="2034275" cy="34471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000" b="0" dirty="0">
                <a:solidFill>
                  <a:srgbClr val="273443"/>
                </a:solidFill>
                <a:latin typeface="Aptos"/>
              </a:rPr>
              <a:t>Measure returns; scale winners and </a:t>
            </a:r>
            <a:endParaRPr lang="en-US" sz="1000" b="0" dirty="0">
              <a:solidFill>
                <a:srgbClr val="273443"/>
              </a:solidFill>
              <a:latin typeface="Aptos"/>
            </a:endParaRPr>
          </a:p>
          <a:p>
            <a:pPr algn="l"/>
            <a:r>
              <a:rPr sz="1000" b="0" dirty="0">
                <a:solidFill>
                  <a:srgbClr val="273443"/>
                </a:solidFill>
                <a:latin typeface="Aptos"/>
              </a:rPr>
              <a:t>stop initiatives below thresholds.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886200"/>
            <a:ext cx="10607040" cy="27432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09999"/>
                </a:solidFill>
                <a:latin typeface="Aptos"/>
              </a:rPr>
              <a:t>MONTHLY SCORECARD</a:t>
            </a:r>
          </a:p>
        </p:txBody>
      </p:sp>
      <p:sp>
        <p:nvSpPr>
          <p:cNvPr id="25" name="Oval 24"/>
          <p:cNvSpPr/>
          <p:nvPr/>
        </p:nvSpPr>
        <p:spPr>
          <a:xfrm>
            <a:off x="841248" y="4334256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9848" y="4297680"/>
            <a:ext cx="31089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273443"/>
                </a:solidFill>
                <a:latin typeface="Aptos"/>
              </a:rPr>
              <a:t>Organic growth</a:t>
            </a:r>
          </a:p>
        </p:txBody>
      </p:sp>
      <p:sp>
        <p:nvSpPr>
          <p:cNvPr id="27" name="Oval 26"/>
          <p:cNvSpPr/>
          <p:nvPr/>
        </p:nvSpPr>
        <p:spPr>
          <a:xfrm>
            <a:off x="4498848" y="4334256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27448" y="4297680"/>
            <a:ext cx="31089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273443"/>
                </a:solidFill>
                <a:latin typeface="Aptos"/>
              </a:rPr>
              <a:t>Margin by service line</a:t>
            </a:r>
          </a:p>
        </p:txBody>
      </p:sp>
      <p:sp>
        <p:nvSpPr>
          <p:cNvPr id="29" name="Oval 28"/>
          <p:cNvSpPr/>
          <p:nvPr/>
        </p:nvSpPr>
        <p:spPr>
          <a:xfrm>
            <a:off x="8156448" y="4334256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85048" y="4297680"/>
            <a:ext cx="31089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273443"/>
                </a:solidFill>
                <a:latin typeface="Aptos"/>
              </a:rPr>
              <a:t>Lab utilization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" y="4928616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9848" y="4892040"/>
            <a:ext cx="31089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273443"/>
                </a:solidFill>
                <a:latin typeface="Aptos"/>
              </a:rPr>
              <a:t>On-time turnaround</a:t>
            </a:r>
          </a:p>
        </p:txBody>
      </p:sp>
      <p:sp>
        <p:nvSpPr>
          <p:cNvPr id="33" name="Oval 32"/>
          <p:cNvSpPr/>
          <p:nvPr/>
        </p:nvSpPr>
        <p:spPr>
          <a:xfrm>
            <a:off x="4498848" y="4928616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27448" y="4892040"/>
            <a:ext cx="31089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273443"/>
                </a:solidFill>
                <a:latin typeface="Aptos"/>
              </a:rPr>
              <a:t>Customer retention</a:t>
            </a:r>
          </a:p>
        </p:txBody>
      </p:sp>
      <p:sp>
        <p:nvSpPr>
          <p:cNvPr id="35" name="Oval 34"/>
          <p:cNvSpPr/>
          <p:nvPr/>
        </p:nvSpPr>
        <p:spPr>
          <a:xfrm>
            <a:off x="8156448" y="4928616"/>
            <a:ext cx="109728" cy="1097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85048" y="4892040"/>
            <a:ext cx="3108960" cy="25603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273443"/>
                </a:solidFill>
                <a:latin typeface="Aptos"/>
              </a:rPr>
              <a:t>Cash return / ROIC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789920" cy="38404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12233A"/>
                </a:solidFill>
                <a:latin typeface="Aptos"/>
              </a:rPr>
              <a:t>Sources, assumptions &amp; decision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58952"/>
            <a:ext cx="1097280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687788"/>
                </a:solidFill>
                <a:latin typeface="Aptos"/>
              </a:rPr>
              <a:t>Use the forecast as a planning baseline—not a precise measure of every growth cause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658368" cy="4114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966960" cy="16459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670" b="0">
                <a:solidFill>
                  <a:srgbClr val="687788"/>
                </a:solidFill>
                <a:latin typeface="Aptos"/>
              </a:rPr>
              <a:t>URLs: mordorintelligence.com/industry-reports/testing-inspection-and-certification-market | gminsights.com/industry-analysis/testing-inspection-certification-tic-market | marketsandmarkets.com/Market-Reports/testing-inspection-certification-market-5352498.html | sgs.com | group.bureauveritas.com | intertek.com | eurofins.com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r"/>
            <a:r>
              <a:rPr sz="800" b="0">
                <a:solidFill>
                  <a:srgbClr val="687788"/>
                </a:solidFill>
                <a:latin typeface="Aptos"/>
              </a:rP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44752"/>
            <a:ext cx="5486400" cy="2651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•  Mordor Intelligence — Testing, Inspection and Certification Market; global, regional and segment forecasts.</a:t>
            </a:r>
          </a:p>
          <a:p>
            <a:pPr>
              <a:spcAft>
                <a:spcPts val="8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•  Global Market Insights — TIC market estimates and long-range outlook.</a:t>
            </a:r>
          </a:p>
          <a:p>
            <a:pPr>
              <a:spcAft>
                <a:spcPts val="8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•  MarketsandMarkets — alternative global market sizing and forecast.</a:t>
            </a:r>
          </a:p>
          <a:p>
            <a:pPr>
              <a:spcAft>
                <a:spcPts val="8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•  SGS, Bureau Veritas, Intertek and Eurofins — FY2025 company financial releases.</a:t>
            </a:r>
          </a:p>
          <a:p>
            <a:pPr>
              <a:spcAft>
                <a:spcPts val="8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•  Company websites and published service portfolios for qualitative competitor positioning.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44752"/>
            <a:ext cx="493776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Aptos"/>
              </a:rPr>
              <a:t>KEY 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983480" cy="31089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9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•  Market estimates differ by scope; broad 2025–2026 estimates are roughly $260B–$280B.</a:t>
            </a:r>
          </a:p>
          <a:p>
            <a:pPr>
              <a:spcAft>
                <a:spcPts val="9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•  The ~$69.8B forecast increase is annual market revenue in 2031 vs. 2026—not cumulative five-year revenue.</a:t>
            </a:r>
          </a:p>
          <a:p>
            <a:pPr>
              <a:spcAft>
                <a:spcPts val="9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•  Regulation, outsourcing, AI, EVs and supply-chain complexity overlap; public data do not support exact causal growth shares.</a:t>
            </a:r>
          </a:p>
          <a:p>
            <a:pPr>
              <a:spcAft>
                <a:spcPts val="900"/>
              </a:spcAft>
              <a:defRPr sz="1000">
                <a:solidFill>
                  <a:srgbClr val="273443"/>
                </a:solidFill>
                <a:latin typeface="Aptos"/>
              </a:defRPr>
            </a:pPr>
            <a:r>
              <a:t>•  Decision required: select priority verticals, geographies, capabilities and investment thresholds.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10789920" cy="86868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750" b="0" dirty="0">
                <a:solidFill>
                  <a:srgbClr val="687788"/>
                </a:solidFill>
                <a:latin typeface="Aptos"/>
              </a:rPr>
              <a:t>URLs: mordorintelligence.com/industry-reports/testing-inspection-and-certification-market | gminsights.com/industry-analysis/testing-inspection-certification-tic-market | marketsandmarkets.com/Market-Reports/testing-inspection-certification-market-5352498.html | sgs.com | group.bureauveritas.com | intertek.com | eurofins.com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1393</Words>
  <Application>Microsoft Office PowerPoint</Application>
  <PresentationFormat>Widescreen</PresentationFormat>
  <Paragraphs>240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Lalit Sabnani</cp:lastModifiedBy>
  <cp:revision>2</cp:revision>
  <dcterms:created xsi:type="dcterms:W3CDTF">2013-01-27T09:14:16Z</dcterms:created>
  <dcterms:modified xsi:type="dcterms:W3CDTF">2026-10-11T19:16:01Z</dcterms:modified>
  <cp:category/>
</cp:coreProperties>
</file>