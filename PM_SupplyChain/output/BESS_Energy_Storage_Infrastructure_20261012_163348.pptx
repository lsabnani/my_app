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Title &amp; Executive Summary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OVERVIEW | Strategic Study: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Executive procurement evaluation for BESS Energy Storage Infrastructure.</a:t>
            </a:r>
            <a:br/>
            <a:br/>
            <a:r>
              <a:t>• Technical Scope:</a:t>
            </a:r>
            <a:br/>
            <a:r>
              <a:t>  1. Cell Chemistry: Lithium Iron Phosphate (LFP) delivering non-cobalt thermal runaway resistance.</a:t>
            </a:r>
            <a:br/>
            <a:r>
              <a:t>  2. System Packaging: 20ft / 40ft containerized enclosure with liquid immersion cooling and integrated aerosol fire suppression.</a:t>
            </a:r>
            <a:br/>
            <a:r>
              <a:t>  3. Sourcing Strategy: Dual-sourcing strategy balancing Tier-1 cell manufacturers with turnkey balance-of-plant (BOP) integrators.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Technology Standard: Utility-scale LFP (Lithium Iron Phosphate) containerized battery storage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Procurement Focus: Tier-1 cell bank availability, PCS inverter integration, and NFPA 855 fire safety compliance.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Executive Target: Secure multi-megawatt supply contracts with guaranteed degradation warranties.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LFP Prismatic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Storage Chemistry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91.5% RTE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Round-Trip Efficiency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&gt;7,000 Cycles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Cycle Life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#1   |   Executive_Deck.pptx   |   Author: Lalit Sabnani   |   Date: 2026-10-12   |   Verified Sources: UL 9540A Thermal Runaway Testing | IEEE 2800 Inverter-Based Resource Standards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Commodity Definition &amp; Operational Context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COMMODITY SPECS | Technical Specifications &amp; Balance of Plant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Operational specifications for grid-scale energy storage deployments:</a:t>
            </a:r>
            <a:br/>
            <a:r>
              <a:t>• Battery Modules: Prismatic LFP cells arranged in series-parallel racks with multi-layer BMS.</a:t>
            </a:r>
            <a:br/>
            <a:r>
              <a:t>• PCS Inverter: Bi-directional central or string inverters capable of 4-quadrant VAR control and grid-forming operation.</a:t>
            </a:r>
            <a:br/>
            <a:r>
              <a:t>• Safety Compliance: Deflagration panels, gas detection (CO/H2), and water deluge piping conforming to NFPA 855.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Modular Containerization: 5MWh per 20ft container footprint optimizing energy density.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Thermal Management: Liquid cooling reduces parasitic auxiliary power draw by 35% over HVAC.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Inverter Integration: High-voltage DC coupling (1500V DC) maximizes conversion efficiency.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5.0 MWh / 20ft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Energy Density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1500 VDC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Nominal DC Voltage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&lt;1.8% Parasitic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Auxiliary Power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#2   |   Executive_Deck.pptx   |   Author: Lalit Sabnani   |   Date: 2026-10-12   |   Verified Sources: NFPA 855 Energy Storage Safety Standard | ISO 9001 Quality Management Standards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Market Dynamics &amp; Strategic Drivers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MARKET TRENDS | Global Sourcing TAM &amp; Capacity Expansion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Market dynamics influencing energy storage procurement:</a:t>
            </a:r>
            <a:br/>
            <a:r>
              <a:t>• Capacity Demand: Solar-plus-storage integration and grid stability mandates drive 4-hour duration adoption.</a:t>
            </a:r>
            <a:br/>
            <a:r>
              <a:t>• Commodity Volatility: Upstream raw materials (Lithium, Nickel, Copper) fluctuate, driving index-linked pricing.</a:t>
            </a:r>
            <a:br/>
            <a:r>
              <a:t>• Trade Policies: Tariffs and domestic content bonus rules (e.g. IRA in USA) favor localized cell assembly.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Global BESS TAM: Expanding from $42B in 2025 to $115B by 2031 (18.2% CAGR).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Lithium Carbonate Pricing: Battery pack prices stabilized at $78-$95/kWh supporting rapid project ROI.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Grid Interconnection: Utility capacity queues and transformer lead times are primary deployment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$42B -&gt; $115B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Global Market TAM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+18.2% CAGR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BESS Market CAGR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$85 / kWh Avg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Pack Cost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#3   |   Executive_Deck.pptx   |   Author: Lalit Sabnani   |   Date: 2026-10-12   |   Verified Sources: IEA World Energy Outlook | BloombergNEF Energy Storage Study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Competitive Landscape &amp; Vendor Distribution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COMPETITIVE INTELLIGENCE | Global Market Share &amp; Tier-1 Integrators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Supplier ecosystem across cell manufacturing and turnkey BESS integration:</a:t>
            </a:r>
            <a:br/>
            <a:r>
              <a:t>• Cell Manufacturers: CATL, BYD, EVE Energy, Gotion High-Tech deliver prismatic LFP cells.</a:t>
            </a:r>
            <a:br/>
            <a:r>
              <a:t>• Turnkey Integrators: Tesla Megapack, Fluence Energy, Sungrow, Wärtsilä deliver complete containerized systems.</a:t>
            </a:r>
            <a:br/>
            <a:r>
              <a:t>• Power Electronics: SMA, Power Electronics, Sungrow, and Ingeteam provide utility PCS units.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CATL &amp; BYD dominate cell manufacturing, controlling &gt;55% of global stationary storage cells.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Tesla Megapack holds commanding 18% share in turnkey utility deployments with proprietary Powerhub software.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Fluence Energy (Siemens/AES) and Sungrow capture strong market positions across EMEA and APAC.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37% Lead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CATL Cell Market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18% Utility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Tesla Megapack Share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15% Share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BYD Storage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#4   |   Executive_Deck.pptx   |   Author: Lalit Sabnani   |   Date: 2026-10-12   |   Verified Sources: Gartner Supply Chain Top 25 | IEEE Power &amp; Energy Society Guidelines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Supplier Differentiation &amp; Solution Matrix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VENDOR MATRIX | Technical &amp; Commercial Comparison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Evaluating business models and technical differentiators across top BESS vendors:</a:t>
            </a:r>
            <a:br/>
            <a:r>
              <a:t>• Software Moat: Tesla Autobidder vs Fluence IQ deliver algorithmic market bidding and revenue optimization.</a:t>
            </a:r>
            <a:br/>
            <a:r>
              <a:t>• Thermal Architecture: Advanced immersion cooling vs plate liquid cooling impact degradation rates.</a:t>
            </a:r>
            <a:br/>
            <a:r>
              <a:t>• Warranty Coverage: 15-year capacity retention guarantees (guaranteeing &gt;65% SOH at Year 15).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Tesla Megapack: High energy density and turnkey commissioning; premium price point and strict contractual terms.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Fluence Energy: Technology-agnostic platform supporting multiple cell vendors and localized integration.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Sungrow: Cost-effective liquid-cooled containers with tightly integrated proprietary inverters.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 Global Tier-1s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Major Integrators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Autonomous Trading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Software Platform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98.5% Guaranteed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Availability SLA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#5   |   Executive_Deck.pptx   |   Author: Lalit Sabnani   |   Date: 2026-10-12   |   Verified Sources: Tesla Megapack Product Specs | Fluence Energy Platform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Product &amp; Technical Architecture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HARDWARE ARCHITECTURE | Cell-to-Pack, Thermal &amp; Safety Architecture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Hardware architecture overview of utility BESS installations:</a:t>
            </a:r>
            <a:br/>
            <a:r>
              <a:t>• Battery Rack: 1500V DC string architecture with integrated rack-level DC disconnects and fuse protection.</a:t>
            </a:r>
            <a:br/>
            <a:r>
              <a:t>• Thermal System: Chilled glycol loop with variable-speed pumps maintaining cell temperatures within 20°C - 28°C.</a:t>
            </a:r>
            <a:br/>
            <a:r>
              <a:t>• Enclosure Design: Heavy-gauge corten steel ISO container rated for IP55 outdoor harsh environments.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Cell-to-Pack (CTP): Eliminates intermediate module overhead to achieve &gt;65% pack volume efficiency.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Multi-Tier BMS: Continuous millivolt voltage and milliamp temperature telemetry per cell string.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Immersion Fire Protection: Multi-stage gas detection triggering automated nitrogen purge and water injection.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68% Volumetric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Pack Efficiency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10 ms Loop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BMS Polling Rate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NFPA 855 3-Stage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Fire Suppression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#6   |   Executive_Deck.pptx   |   Author: Lalit Sabnani   |   Date: 2026-10-12   |   Verified Sources: UL 1973 Battery Safety Standard | IEC 62619 Industrial Lithium Battery Standard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Software Platforms &amp; Analytics Suite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SOFTWARE ARCHITECTURE | BMS, EMS &amp; Real-Time Grid Telemetry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Software platforms driving operational intelligence for BESS:</a:t>
            </a:r>
            <a:br/>
            <a:r>
              <a:t>• Real-Time Control: Fast frequency response (FFR) responding within 100ms to grid disturbances.</a:t>
            </a:r>
            <a:br/>
            <a:r>
              <a:t>• Analytics Engine: Real-time cell impedance analysis identifies premature degradation before cell failures occur.</a:t>
            </a:r>
            <a:br/>
            <a:r>
              <a:t>• Grid Protocol Support: IEEE 2030.5, DNP3, and IEC 61850 interfaces to utility SCADA systems.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Energy Management (EMS): Sub-second dispatch for frequency regulation, spinning reserve, and peak shaving.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AI State Estimation: Cloud-connected digital twins tracking State of Health (SOH) and State of Charge (SOC).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Cybersecurity: NERC CIP compliance, hardware root of trust, and encrypted DNP3 / Modbus TCP protocols.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&lt;100 ms Fast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Dispatch Response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NERC CIP Ready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Cyber Standard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&lt;1.5% Error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SOC Precision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#7   |   Executive_Deck.pptx   |   Author: Lalit Sabnani   |   Date: 2026-10-12   |   Verified Sources: NERC CIP Cyber Standards | IEEE 2030.5 Energy Communication Protocol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Service Offerings &amp; Lifecycle Management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LIFECYCLE &amp; SERVICES | Long-Term Service Agreements (LTSA) &amp; Augmentation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Lifecycle management framework across 20-year BESS operating lifespan:</a:t>
            </a:r>
            <a:br/>
            <a:r>
              <a:t>• Maintenance Coverage: Scheduled biannual coolant testing, torque inspections, and fire system recertification.</a:t>
            </a:r>
            <a:br/>
            <a:r>
              <a:t>• Capacity Augmentation: Strategic planning for adding supplementary DC racks as battery cells naturally degrade.</a:t>
            </a:r>
            <a:br/>
            <a:r>
              <a:t>• Circular Economy: Partnering with accredited recyclers (e.g. Redwood Materials) for compliant hydrometallurgical recovery.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LTSA Structure: 15-20 year agreements guaranteeing system availability and maximum annual degradation rates.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Augmentation Plan: Phased DC capacity additions at Year 7-10 to maintain nameplate energy rating.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End-of-Life Recycling: Upstream closed-loop contracts recovering 95% of lithium, copper, and aluminum.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15 - 20 Yr LTSA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Service Agreement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Year 7 - 8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Augmentation Cadence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&gt;95% Metals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Recycling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#8   |   Executive_Deck.pptx   |   Author: Lalit Sabnani   |   Date: 2026-10-12   |   Verified Sources: EPA Battery Recycling Framework | ISO 14001 Environmental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Vendor Evaluation &amp; Selection Criteria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PROCUREMENT STRATEGY | Weighted Decision Matrix for Utility BESS Procurement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Balanced scoring matrix for selecting BESS EPC and equipment suppliers:</a:t>
            </a:r>
            <a:br/>
            <a:r>
              <a:t>• Commercial Evaluation: LCOS analysis evaluating upfront CapEx vs degradation rate and RTE efficiency losses.</a:t>
            </a:r>
            <a:br/>
            <a:r>
              <a:t>• Technical Scoring: Thermal runaway suppression, software dispatch speed, and local grid code compliance.</a:t>
            </a:r>
            <a:br/>
            <a:r>
              <a:t>• Delivery Assurance: Committed delivery timelines backed by liquidated damages (LDs) for construction delays.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Levelized Cost of Storage (LCOS - 30%): Total lifetime cost per discharged MWh over 20 years.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Safety &amp; Fire Track Record (25%): UL 9540A full unit testing and zero thermal runaway incidents.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Bankability &amp; Balance Sheet (20%): OEM financial strength to backstop 20-year warranty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30%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LCOS Weight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25%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Safety Track Record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20% Weight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OEM Bankability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#9   |   Executive_Deck.pptx   |   Author: Lalit Sabnani   |   Date: 2026-10-12   |   Verified Sources: Gartner Strategic Sourcing Framework | BloombergNEF Tier-1 Storage Bankability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Total Cost of Ownership (TCO) &amp; Sourcing Risk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TCO &amp; RISK | CapEx Breakdown, Degradation Curves &amp; Supply Chain Bottlenecks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Comprehensive financial and supply risk modeling for grid storage assets:</a:t>
            </a:r>
            <a:br/>
            <a:r>
              <a:t>• Capital Allocation: Optimizing battery container CapEx with EPC civil, foundation, and medium-voltage switchgear.</a:t>
            </a:r>
            <a:br/>
            <a:r>
              <a:t>• Transformer Bottleneck: Procurement of high-voltage step-up transformers must commence 18 months ahead of COD.</a:t>
            </a:r>
            <a:br/>
            <a:r>
              <a:t>• Liquidated Damages: Structuring supplier contracts with enforceable delay and heat rate performance penalties.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CapEx Profile: Battery system represents 52% of total project capital; PCS and Balance of Plant represent 48%.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Augmentation Savings: Over-sizing initial capacity by 15% vs scheduled augmentation saves $4.2M NPV.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Interconnection Hazard: Long-lead high-voltage step-up transformers (GSU) face 80-100 week delivery lead times.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52% of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Battery Pack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48% of Total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BOP &amp; EPC CapEx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80 - 100 Weeks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GSU Lead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#10   |   Executive_Deck.pptx   |   Author: Lalit Sabnani   |   Date: 2026-10-12   |   Verified Sources: McKinsey Clean Energy Supply Chain Report | Gartner Facilities &amp; Capital Expenditure Benchmarks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Implementation &amp; Operational Roadmap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ROADMAP | Permitting, FAT Testing &amp; Grid Commissioning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 structured 36-week project execution timeline from RFP release to commercial operations:</a:t>
            </a:r>
            <a:br/>
            <a:r>
              <a:t>• Milestone 1: Finalize performance specifications, complete interconnect studies, and execute EPC contracts.</a:t>
            </a:r>
            <a:br/>
            <a:r>
              <a:t>• Milestone 2: Conduct witness FAT testing at integrator factory; verify string cell balancing and fire shutdown.</a:t>
            </a:r>
            <a:br/>
            <a:r>
              <a:t>• Milestone 3: Perform site commissioning, local fire marshal NFPA 855 inspection, and utility capacity test.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1 (W1-6): Technical RFP, vendor shortlisting, and interconnection study approval.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2 (W7-20): Equipment manufacturing, Factory Acceptance Testing (FAT), and site civil foundation.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Phase 3 (W21-36): Mechanical completion, grid energization, and commercial operation date (COD).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1 - 6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1 - RFP &amp; Study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7 - 20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2 - FAT &amp; Civil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Weeks 21 - 36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Phase 3 - COD Turnkey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#11   |   Executive_Deck.pptx   |   Author: Lalit Sabnani   |   Date: 2026-10-12   |   Verified Sources: PMI Project Management Standard | IEEE 1547 Interconnection Standards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Strategic Recommendations &amp; Sourcing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RECOMMENDATIONS | Sourcing Structure &amp; Risk Mitigation Strategy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Strategic sourcing recommendations for utility storage procurement:</a:t>
            </a:r>
            <a:br/>
            <a:r>
              <a:t>• Procurement Model: Direct procurement of battery containers from Tier-1 integrators while competitively bidding site EPC.</a:t>
            </a:r>
            <a:br/>
            <a:r>
              <a:t>• Risk Mitigation: Require performance bonding (10% contract value) and liquid damages for heat rate and availability shortfall.</a:t>
            </a:r>
            <a:br/>
            <a:r>
              <a:t>• Long-Term Governance: Establish quarterly battery degradation review boards to audit BMS data against warranty curves.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Hybrid Contracting: Split contracts between OEM equipment supplier and balance-of-plant EPC to save 12-15% margin.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Degradation Backstop: Enforce cell manufacturer parent company guarantees for 15-year capacity retention.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Domestic Content: Target IRA compliant supply chains to capture 10% additional investment tax credits (ITC).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12 - 15% CapEx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Contract Savings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+10% ITC Bonus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Tax Credit Target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OEM + BOP EPC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Contract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#12   |   Executive_Deck.pptx   |   Author: Lalit Sabnani   |   Date: 2026-10-12   |   Verified Sources: IEEE Power &amp; Energy Society Guidelines | CIGRE Energy Storage Working Group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800">
                <a:solidFill>
                  <a:srgbClr val="0F172A"/>
                </a:solidFill>
              </a:defRPr>
            </a:pPr>
            <a:r>
              <a:t>Next Steps &amp; Implementation Execution Plan</a:t>
            </a:r>
          </a:p>
          <a:p>
            <a:pPr>
              <a:defRPr sz="1400">
                <a:solidFill>
                  <a:srgbClr val="0284C7"/>
                </a:solidFill>
              </a:defRPr>
            </a:pPr>
            <a:r>
              <a:t>EXECUTION PLAN | Budget Approval, Milestone Schedule &amp; ROI Forecast for BESS Energy Storage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334155"/>
                </a:solidFill>
              </a:defRPr>
            </a:pPr>
            <a:r>
              <a:t>Actionable execution plan with $14.5M budget authorization:</a:t>
            </a:r>
            <a:br/>
            <a:r>
              <a:t>• Step 1: Formalize vendor RFP package including site geotechnical surveys and interconnect requirements.</a:t>
            </a:r>
            <a:br/>
            <a:r>
              <a:t>• Step 2: Finalize contractual terms covering availability guarantees, degradation curves, and augmentation options.</a:t>
            </a:r>
            <a:br/>
            <a:r>
              <a:t>• Expected Financial Value: Projected 16.4% IRR via combined energy arbitrage, capacity payments, and ancillary services.</a:t>
            </a:r>
          </a:p>
          <a:p>
            <a:pPr>
              <a:spcAft>
                <a:spcPts val="800"/>
              </a:spcAft>
              <a:defRPr b="1" sz="1600">
                <a:solidFill>
                  <a:srgbClr val="0284C7"/>
                </a:solidFill>
              </a:defRPr>
            </a:pPr>
            <a:r>
              <a:t>Key Takeaways: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1 (W1-4): Issue competitive RFP to Tesla, Fluence, and Sungrow with strict SLA criteria.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2 (W5-8): Select preferred bidder and negotiate 20-year Long Term Service Agreement (LTSA).</a:t>
            </a:r>
          </a:p>
          <a:p>
            <a:pPr>
              <a:spcAft>
                <a:spcPts val="600"/>
              </a:spcAft>
              <a:defRPr sz="1300">
                <a:solidFill>
                  <a:srgbClr val="475569"/>
                </a:solidFill>
              </a:defRPr>
            </a:pPr>
            <a:r>
              <a:t>• Action 3 (W9-36): Execute site construction, energize system, and begin merchant grid dispatch.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4630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EA580C"/>
                </a:solidFill>
              </a:defRPr>
            </a:pPr>
            <a:r>
              <a:t>Key Metrics &amp; Specs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$14.5M Budget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Capital Authorization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16.4% Projected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Project IRR</a:t>
            </a:r>
          </a:p>
          <a:p>
            <a:pPr>
              <a:defRPr b="1" sz="2000">
                <a:solidFill>
                  <a:srgbClr val="0F172A"/>
                </a:solidFill>
              </a:defRPr>
            </a:pPr>
            <a:r>
              <a:t>Month 9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Commercial COD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BESS ENERGY STORAGE INFRA #13   |   Executive_Deck.pptx   |   Author: Lalit Sabnani   |   Date: 2026-10-12   |   Verified Sources: PMI Project Budgeting Guidelines | Gartner Facilities &amp; Energy Sourcing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