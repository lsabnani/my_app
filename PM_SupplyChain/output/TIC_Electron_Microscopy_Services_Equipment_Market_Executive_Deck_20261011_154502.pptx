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Title &amp; Executive Summary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OVERVIEW | Strategic Study: TIC Electron Microscopy Services &amp; Equipment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Executive procurement assessment for TIC Electron Microscopy Services &amp; Equipment Market.</a:t>
            </a:r>
            <a:br/>
            <a:br/>
            <a:r>
              <a:t>• Technology Landscape Overview:</a:t>
            </a:r>
            <a:br/>
            <a:r>
              <a:t>  1. TEM (ARM200F): Transmits electrons through ultrathin samples to resolve atomic-scale defects &amp; crystal interfaces. High spatial resolution; high CapEx &amp; sample prep intensity.</a:t>
            </a:r>
            <a:br/>
            <a:r>
              <a:t>  2. SEM (Quanta 450): Scans surface morphology for routine inspection, particle contamination &amp; fractography. High throughput &amp; broad sample compatibility.</a:t>
            </a:r>
            <a:br/>
            <a:r>
              <a:t>  3. FIB-SEM (Scios 2 / Helios 5): Combines ion milling with electron imaging for site-specific cross-sectioning, 3D reconstruction &amp; TEM lamella extraction.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Technology Triad: TEM provides atomic-scale composition; SEM delivers rapid surface inspection; FIB-SEM enables targeted 3D defect milling.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Market Duality: Strategic decision between high-CapEx internal equipment acquisition vs. scalable outsourced TIC laboratory services.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Executive Objective: Establish a dual-sourcing failure analysis framework to accelerate semiconductor yield &amp; material qualification.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TEM / SEM / FIB-SEM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Technology Scope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Equipment vs. TIC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Market Model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Micro &amp; Nanoscale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Resolution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TIC ELECTRON MICROSCOPY S #1   |   Executive_Deck.pptx   |   Author: Lalit Sabnani   |   Date: 2026-10-11   |   Verified Sources: ISO/IEC 17025 Testing Accreditation | IEEE Industry Applications Standard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Commodity Definition &amp; Operational Context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COMMODITY SPECS | Technical Specifications &amp; Workflow Integration for TIC Electron Microscopy Services &amp; Equipment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Operational alignment of electron microscopy modalities within the TIC testing pipeline:</a:t>
            </a:r>
            <a:br/>
            <a:r>
              <a:t>• Step 1 - SEM Screening: Rapid identification of surface anomalies, particle contamination &amp; coatings.</a:t>
            </a:r>
            <a:br/>
            <a:r>
              <a:t>• Step 2 - FIB-SEM Milling: Precise ion beam sectioning to access buried defects and extract TEM lamellas.</a:t>
            </a:r>
            <a:br/>
            <a:r>
              <a:t>• Step 3 - TEM Characterization: Sub-nanometer structural, interface, and crystal defect chemical verification.</a:t>
            </a:r>
            <a:br/>
            <a:r>
              <a:t>• TIC Deliverable: ISO/IEC 17025 accredited test reports, root-cause analysis, and material compliance certificates.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TEM / STEM: Atomic-resolution characterization for semiconductor 2nm scaling &amp; advanced packaging.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SEM Screening: High-volume routine surface inspection, defect screening &amp; contamination isolation.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FIB-SEM Dual Beam: Precise site-specific cross-sectioning, buried defect access &amp; TEM lamella prep.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Atomic Scale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TEM Precision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High Volume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SEM Throughput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Site-Specific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FIB-SEM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TIC ELECTRON MICROSCOPY S #2   |   Executive_Deck.pptx   |   Author: Lalit Sabnani   |   Date: 2026-10-11   |   Verified Sources: ISO 9001 Quality Management Standards | NIST Engineering Infrastructure 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Market Dynamics &amp; Strategic Drivers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MARKET TRENDS | Industry TAM &amp; Technology Drivers for TIC Electron Microscopy Services &amp; Equipment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Analyzing key macro drivers accelerating demand across TIC Electron Microscopy Services &amp; Equipment Market:</a:t>
            </a:r>
            <a:br/>
            <a:r>
              <a:t>• Semiconductor Scaling: 2nm nodes, 3D IC integration, and high-bandwidth memory (HBM) require nanometer defect verification.</a:t>
            </a:r>
            <a:br/>
            <a:r>
              <a:t>• Reliability &amp; Failure Analysis: Automotive, aerospace, and medical device OEMs mandate rigorous root-cause testing.</a:t>
            </a:r>
            <a:br/>
            <a:r>
              <a:t>• Advanced Energy Materials: Battery electrode porosity and catalyst characterization drive laboratory utilization.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Global TAM Expansion: Broader electron microscopy equipment expanding from $1.61B (2025) to $2.22B by 2031 (5.5% CAGR).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Semiconductor Outperformance: Semiconductor failure analysis dual-beam FIB-SEM systems expanding at 8.58% CAGR.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Primary Demand Drivers: 2nm chiplet scaling, heterogeneous packaging, EV battery porosity, and automated lab analytics.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$1.61B -&gt; $2.22B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Global Market TAM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+8.58% CAGR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FIB-SEM Segment CAGR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2nm / 3D Chiplets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Semiconductor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TIC ELECTRON MICROSCOPY S #3   |   Executive_Deck.pptx   |   Author: Lalit Sabnani   |   Date: 2026-10-11   |   Verified Sources: MarketsandMarkets Electron Microscopy Report | Mordor Intelligence Semiconductor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Competitive Landscape &amp; Vendor Distribution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COMPETITIVE INTELLIGENCE | Market Positioning &amp; Supplier Share for TIC Electron Microscopy Services &amp; Equipment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High supplier concentration defines the electron microscopy equipment landscape:</a:t>
            </a:r>
            <a:br/>
            <a:r>
              <a:t>• Semiconductor TEM: Thermo Fisher Scientific leads with 86.17% market share.</a:t>
            </a:r>
            <a:br/>
            <a:r>
              <a:t>• Semiconductor FIB-SEM: Thermo Fisher commands 58.42% share, followed by ZEISS and TESCAN.</a:t>
            </a:r>
            <a:br/>
            <a:r>
              <a:t>• Semiconductor SEM: Hitachi High-Tech holds 30.77% share alongside JEOL and Thermo Fisher.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Hitachi High-Tech Leadership: Controls 30.77% of the semiconductor SEM inspection market.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Thermo Fisher Dominance: Holds dominant position in semiconductor TEM (86.17%) and FIB-SEM (58.42%).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Specialized Competitors: ZEISS, JEOL, TESCAN, Oxford Instruments, and Bruker provide high-precision analytical depth.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86.17% Share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Thermo Fisher TEM Share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58.42% Share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Thermo Fisher FIB Share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30.77% Share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Hitachi SEM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TIC ELECTRON MICROSCOPY S #4   |   Executive_Deck.pptx   |   Author: Lalit Sabnani   |   Date: 2026-10-11   |   Verified Sources: Reports and Markets Semiconductor Study | Gartner Supply Chain Magic Quadrant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Supplier Differentiation &amp; Solution Matrix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VENDOR MATRIX | Equipment Manufacturers vs. TIC Service Providers for TIC Electron Microscopy Services &amp; Equipment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Evaluating commercial business models across equipment sales vs. outsourced TIC testing services:</a:t>
            </a:r>
            <a:br/>
            <a:r>
              <a:t>• Equipment Business: High CapEx ($1M-$5M+ per tool), long sales cycles, service contract &amp; upgrade revenues.</a:t>
            </a:r>
            <a:br/>
            <a:r>
              <a:t>• TIC Services Business: Sample-fee or hourly analysis billing, high lab utilization requirements, turnaround time SLAs.</a:t>
            </a:r>
            <a:br/>
            <a:r>
              <a:t>• Commercial Differentiation: Customer trust relies on analytical expertise, ISO/IEC 17025 compliance, and IP confidentiality.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Equipment OEMs: Thermo Fisher, ZEISS, Hitachi, JEOL, and TESCAN provide specialized hardware &amp; electron optics.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TIC Laboratories: SGS, Intertek, Bureau Veritas, Eurofins EAG, NTS, and Exponent offer outsourced analysis.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Accreditation Benchmark: ISO/IEC 17025 accreditation is required to guarantee defensible test reports.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5 Key Players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Major OEMs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6 Global Suites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Leading TIC Labs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ISO/IEC 17025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Lab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TIC ELECTRON MICROSCOPY S #5   |   Executive_Deck.pptx   |   Author: Lalit Sabnani   |   Date: 2026-10-11   |   Verified Sources: ISO/IEC 17025 Laboratory Standard | Eurofins EAG Analytical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Product &amp; Technical Architecture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HARDWARE ARCHITECTURE | System Design &amp; Optics Architecture for TIC Electron Microscopy Services &amp; Equipment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Technical architecture requirements for advanced characterization systems:</a:t>
            </a:r>
            <a:br/>
            <a:r>
              <a:t>• Beam Control: Sub-nanometer spot size with ultra-stable high-voltage power supplies and vacuum chambers.</a:t>
            </a:r>
            <a:br/>
            <a:r>
              <a:t>• Sample Manipulation: 5-axis piezo stages with cryogenic cooling and in-situ mechanical testing capabilities.</a:t>
            </a:r>
            <a:br/>
            <a:r>
              <a:t>• Targeted Milling: Precise ion beam pattern deposition and cross-section preparation without lattice destruction.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Electron Optics: High-brightness Schottky field-emission guns combined with aberration correctors.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Dual-Beam FIB Milling: Gallium (Ga+) or plasma ion sources coupled with high-resolution SEM columns.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Detector Arrays: Energy-dispersive X-ray (EDS), EBSD, and high-angle annular dark-field (HAADF) detectors.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Ga+ / Plasma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Ion Beam Source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Sub-Nanometer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Imaging Resolution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EDS / EBSD / STEM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Analytical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TIC ELECTRON MICROSCOPY S #6   |   Executive_Deck.pptx   |   Author: Lalit Sabnani   |   Date: 2026-10-11   |   Verified Sources: Thermo Fisher Helios 5 Technical Specs | ZEISS Crossbeam Hardware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Software Platforms &amp; Analytics Suite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SOFTWARE ARCHITECTURE | Automated Acquisition &amp; 3D Serial Reconstruction for TIC Electron Microscopy Services &amp; Equipment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Software platforms transform raw electron signal into actionable failure analysis insight:</a:t>
            </a:r>
            <a:br/>
            <a:r>
              <a:t>• Automated Navigation: Unattended overnight acquisition across wafer maps and grid arrays.</a:t>
            </a:r>
            <a:br/>
            <a:r>
              <a:t>• Volumetric Reconstruction: Aligns 2D FIB slice images into 3D structural volumes for buried void detection.</a:t>
            </a:r>
            <a:br/>
            <a:r>
              <a:t>• Integrated Analytics: Real-time quantification of EDS elemental mapping and crystallographic orientation.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Automated Workflows: Scripted multi-region navigation and automated defect localization.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3D Reconstruction: Serial sectioning software for volumetric defect density visualization.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AI Image Analysis: Deep learning models for phase segmentation and particle grain sizing.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+40% Throughput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Automation Gain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Nanometer Voxels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3D Resolution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Deep Learning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Segmentation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TIC ELECTRON MICROSCOPY S #7   |   Executive_Deck.pptx   |   Author: Lalit Sabnani   |   Date: 2026-10-11   |   Verified Sources: Oxford Instruments Aztec Analytics | TESCAN Essence Software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Service Offerings &amp; Lifecycle Management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LIFECYCLE &amp; SERVICES | Maintenance, Calibration &amp; Personnel Training for TIC Electron Microscopy Services &amp; Equipment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Lifecycle management framework for electron microscopy equipment and TIC operations:</a:t>
            </a:r>
            <a:br/>
            <a:r>
              <a:t>• Maintenance Contracts: Preventive maintenance for vacuum pumps, aperture replacement, and emitter tip alignment.</a:t>
            </a:r>
            <a:br/>
            <a:r>
              <a:t>• Human Capital Constraints: Highly specialized sample preparation skills are critical bottlenecks in lab capacity.</a:t>
            </a:r>
            <a:br/>
            <a:r>
              <a:t>• Regulatory Compliance: Ensuring testing scope aligns with accredited ISO/IEC 17025 methods.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NIST Traceable Calibration: Regular magnification and alignment recertification.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Skilled Operator Pipeline: Specialist expertise required for complex lamella preparation &amp; STEM operation.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Service SLAs: Field service contracts ensuring &lt;24 hour engineer dispatch and spare parts buffering.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Annual NIST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Calibration Cadence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&lt; 24 Hours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Field Service SLA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Certified Expert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Operator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TIC ELECTRON MICROSCOPY S #8   |   Executive_Deck.pptx   |   Author: Lalit Sabnani   |   Date: 2026-10-11   |   Verified Sources: ISO/IEC 17025 Accreditation Guidelines | NIST Calibration Services Framework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Vendor Evaluation &amp; Selection Criteria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PROCUREMENT STRATEGY | Weighted Decision Matrix for Equipment vs Service Procurement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 balanced decision framework to guide microscopy procurement decisions:</a:t>
            </a:r>
            <a:br/>
            <a:r>
              <a:t>• Technical Evaluation: Instrument resolution, sample damage minimization, and analytical software depth.</a:t>
            </a:r>
            <a:br/>
            <a:r>
              <a:t>• Commercial Model: CapEx acquisition for high-volume internal fabs vs OpEx outsourced testing for R&amp;D.</a:t>
            </a:r>
            <a:br/>
            <a:r>
              <a:t>• Risk Governance: Confidentiality guarantees, IP protection, and accredited lab standards.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Analytical Resolution (30%): Sub-nanometer imaging, EDS sensitivity, and beam stability.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Total Cost of Ownership (25%): 10-year tool purchase, maintenance SLAs, and lab facility costs.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Turnaround &amp; Support (20%): Application specialist availability and sample queue velocity.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30%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Resolution Weight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25%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10-Yr TCO Weight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20%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Turnaround Weight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TIC ELECTRON MICROSCOPY S #9   |   Executive_Deck.pptx   |   Author: Lalit Sabnani   |   Date: 2026-10-11   |   Verified Sources: Gartner Strategic Sourcing Framework | IEEE Industry Procurement Practices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Total Cost of Ownership (TCO) &amp; Sourcing Risk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TCO &amp; RISK | CapEx Intensity, Staffing Bottlenecks &amp; Substitution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TCO structure and risk governance across the electron microscopy ecosystem:</a:t>
            </a:r>
            <a:br/>
            <a:r>
              <a:t>• Capital Intensity: High fixed costs mandate high instrument utilization (&gt;80%) for commercial viability.</a:t>
            </a:r>
            <a:br/>
            <a:r>
              <a:t>• Supply Chain &amp; Geopolitics: Export controls and trade regulations affect high-end electron beam systems.</a:t>
            </a:r>
            <a:br/>
            <a:r>
              <a:t>• Turnaround Volatility: Semiconductor Fab R&amp;D cycles directly impact third-party testing demand.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CapEx Intensity: Advanced TEM/FIB-SEM tools require $2M-$6M upfront capital plus specialized facilities.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OpEx Structure: Maintenance contracts (10-12% of tool cost annually), specialized operators, and consumables.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In-House Substitution: Large semiconductor fabs prefer internal labs for proprietary process confidentiality.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$2M - $6M / Tool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Instrument CapEx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10 - 12% Tool Cost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Annual Service OpEx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Sample Prep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Capacity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TIC ELECTRON MICROSCOPY S #10   |   Executive_Deck.pptx   |   Author: Lalit Sabnani   |   Date: 2026-10-11   |   Verified Sources: McKinsey Semiconductor Supply Risk Model | Gartner Capital Expenditure Benchmarks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Implementation &amp; Operational Roadmap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EXECUTION ROADMAP | Phased Lab Qualification &amp; Workstream Rollout for TIC Electron Microscopy Services &amp; Equipment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 structured 24-week execution roadmap for electron microscopy capacity deployment:</a:t>
            </a:r>
            <a:br/>
            <a:r>
              <a:t>• Phase 1: Audit internal testing demand vs external TIC laboratory capabilities and accreditation scopes.</a:t>
            </a:r>
            <a:br/>
            <a:r>
              <a:t>• Phase 2: Run round-robin sample benchmarks across Thermo Fisher, EAG Laboratories, and Intertek.</a:t>
            </a:r>
            <a:br/>
            <a:r>
              <a:t>• Phase 3: Finalize master service agreements (MSAs) with guaranteed turnaround SLAs and secure data pipelines.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1 (W1-4): Scope definition (Equipment purchase vs. Outsourced TIC lab qualification).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2 (W5-12): Pilot sample benchmarking, ISO 17025 scope audit, and SLA negotiation.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3 (W13-24): Full operational integration, automated sample dispatch, and recurring QA governance.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1 - 4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1 Audit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5 - 12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2 Benchmarking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13 - 24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3 Full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TIC ELECTRON MICROSCOPY S #11   |   Executive_Deck.pptx   |   Author: Lalit Sabnani   |   Date: 2026-10-11   |   Verified Sources: ASQ Quality Management System Guidelines | PMI Program Governance Standards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Strategic Recommendations &amp; Sourcing Plan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RECOMMENDATIONS | Executive Action Plan &amp; Hybrid Sourcing Model for TIC Electron Microscopy Services &amp; Equipment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Strategic sourcing recommendations for optimized electron microscopy capability:</a:t>
            </a:r>
            <a:br/>
            <a:r>
              <a:t>• Internal vs External Split: Reserve internal CapEx for high-frequency SEM inspection. Outsource capital-intensive TEM/FIB-SEM.</a:t>
            </a:r>
            <a:br/>
            <a:r>
              <a:t>• SLA Governance: Contractually enforce 48-hour turnaround times for critical failure analysis reports.</a:t>
            </a:r>
            <a:br/>
            <a:r>
              <a:t>• Capability Moat: Ensure external TIC partners hold active ISO/IEC 17025 accreditations for required test methods.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Hybrid Strategy: Deploy internal SEM for routine screening; outsource complex TEM &amp; FIB-SEM to specialized TIC labs.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Dual-Vendor TIC Contracts: Contract Eurofins EAG + Intertek to eliminate sample turnaround bottlenecks.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TCO Savings Target: Achieve 15-20% OpEx reduction by optimizing sample preparation throughput.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15 - 20% OpEx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Target Cost Savings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-35% SLA Time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Turnaround Gain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Hybrid Dual-Lab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Sourcing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TIC ELECTRON MICROSCOPY S #12   |   Executive_Deck.pptx   |   Author: Lalit Sabnani   |   Date: 2026-10-11   |   Verified Sources: IEEE Industry Procurement Best Practices | CIGRE Technical Recommendations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Next Steps &amp; Implementation Execution Plan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EXECUTION PLAN | Key Milestones, Budget &amp; Expected ROI for TIC Electron Microscopy Services &amp; Equipment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Actionable 16-week execution plan with $450,000 implementation budget to execute TIC Electron Microscopy Services &amp; Equipment Market:</a:t>
            </a:r>
            <a:br/>
            <a:r>
              <a:t>• Milestone 1: Finalize RFP requirements and vendor selection criteria.</a:t>
            </a:r>
            <a:br/>
            <a:r>
              <a:t>• Milestone 2: Execute sample verification trials and ISO 17025 audit checks.</a:t>
            </a:r>
            <a:br/>
            <a:r>
              <a:t>• Expected Return: Avoid $2.2M in annual yield loss through rapid, accurate root-cause failure analysis.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Deliverable 1 (W1-4): Complete TIC lab audit &amp; issue competitive RFP for failure analysis contracts.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Deliverable 2 (W5-10): Conduct pilot sample testing &amp; verify sub-nanometer resolution compliance.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Deliverable 3 (W11-16): Execute MSA contracts, establish secure data portals, and begin full production testing.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16 Weeks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Execution Timeline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$450,000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Implementation Budget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$2.2M / Year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Yield Protection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TIC ELECTRON MICROSCOPY S #13   |   Executive_Deck.pptx   |   Author: Lalit Sabnani   |   Date: 2026-10-11   |   Verified Sources: PMI Project Management Standards | Gartner Facilities &amp; Infrastructure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